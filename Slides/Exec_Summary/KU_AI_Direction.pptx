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AI สำหรับองค์กร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ทิศทางการนำ AI มาใช้ใน มหาวิทยาลัยเกษตรศาสตร์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82880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0" y="9144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0" b="1" i="1" dirty="0">
                <a:solidFill>
                  <a:srgbClr val="006633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5,000+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594360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i="1" dirty="0">
                <a:solidFill>
                  <a:srgbClr val="C9A961">
                    <a:alpha val="70000"/>
                  </a:srgbClr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บุคลากร มก. ที่สามารถใช้ AI ได้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ภาพรวมโครงสร้างพื้นฐาน AI, โอกาส, และ Roadmap 18 เดือน
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C9A9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สำหรับผู้บริหารระดับสูงของมหาวิทยาลัยเกษตรศาสตร์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663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754880"/>
            <a:ext cx="78638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สำนักบริการคอมพิวเตอร์  ×  ฝ่ายเทคโนโลยีดิจิทัลและปัญญาประดิษฐ์   |   พฤษภาคม 2569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ทำไม มก. ต้องลงทุน AI ตั้งแต่วันนี้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Why now — 3 มุมมองที่ผู้บริหาร มก. ควรพิจารณา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2743200"/>
          </a:xfrm>
          <a:prstGeom prst="rect">
            <a:avLst/>
          </a:prstGeom>
          <a:solidFill>
            <a:srgbClr val="F8F9F7"/>
          </a:solidFill>
          <a:ln w="6350">
            <a:solidFill>
              <a:srgbClr val="2E8B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2651760" cy="10972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1691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i="1" dirty="0">
                <a:solidFill>
                  <a:srgbClr val="2E8B57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85800" y="1783080"/>
            <a:ext cx="640080" cy="64008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🌍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8580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แนวโน้มโลก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2926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AI กระทบทุกอุตสาหกรรม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มหาวิทยาลัยที่ไม่ปรับตัว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จะเสียความสามารถ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ในการแข่งขัน 5 ปีข้างหน้า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566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85800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ของงาน admin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จะเปลี่ยนรูปแบบ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463040"/>
            <a:ext cx="2651760" cy="2743200"/>
          </a:xfrm>
          <a:prstGeom prst="rect">
            <a:avLst/>
          </a:prstGeom>
          <a:solidFill>
            <a:srgbClr val="F8F9F7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463040"/>
            <a:ext cx="2651760" cy="10972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691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i="1" dirty="0">
                <a:solidFill>
                  <a:srgbClr val="C9A961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3429000" y="1783080"/>
            <a:ext cx="640080" cy="640080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🏛️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42900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ม.รัฐในไทย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429000" y="2926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จุฬาฯ + มหิดล + ม.รังสิต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ลงทุน AI Center,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LLM ของตัวเอง,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และ workflow automation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29000" y="3566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3429000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มหาวิทยาลัยคู่แข่ง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ลงทุนแล้ว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0" y="1463040"/>
            <a:ext cx="2651760" cy="2743200"/>
          </a:xfrm>
          <a:prstGeom prst="rect">
            <a:avLst/>
          </a:prstGeom>
          <a:solidFill>
            <a:srgbClr val="F8F9F7"/>
          </a:solidFill>
          <a:ln w="6350">
            <a:solidFill>
              <a:srgbClr val="0066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1463040"/>
            <a:ext cx="2651760" cy="109728"/>
          </a:xfrm>
          <a:prstGeom prst="rect">
            <a:avLst/>
          </a:prstGeom>
          <a:solidFill>
            <a:srgbClr val="006633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0" y="1691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i="1" dirty="0">
                <a:solidFill>
                  <a:srgbClr val="006633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6172200" y="1783080"/>
            <a:ext cx="640080" cy="640080"/>
          </a:xfrm>
          <a:prstGeom prst="ellipse">
            <a:avLst/>
          </a:prstGeom>
          <a:solidFill>
            <a:srgbClr val="006633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⏰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17220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โอกาสของ มก.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172200" y="2926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ประหยัด ~200 ชม./ปี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ต่อบุคลากร 1 คน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×  5,000 คน เป้าหมาย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72200" y="3566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6172200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ชั่วโมง/ปี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ที่ประหยัดได้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solidFill>
            <a:srgbClr val="004D26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9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การไม่ทำ 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= </a:t>
            </a:r>
            <a:pPr algn="ctr" indent="0" marL="0">
              <a:buNone/>
            </a:pPr>
            <a:r>
              <a:rPr lang="en-US" sz="2000" b="1" dirty="0">
                <a:solidFill>
                  <a:srgbClr val="C9A9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การถอยหลัง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 —  ในขณะที่คู่แข่งเดินไปข้างหน้า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เรามีของพร้อมแล้ว — ไม่ต้องเริ่มจาก 0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KU AI Stack — โครงสร้างพื้นฐานที่มหาวิทยาลัยลงทุนไว้แล้ว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303520" cy="548640"/>
          </a:xfrm>
          <a:prstGeom prst="rect">
            <a:avLst/>
          </a:prstGeom>
          <a:solidFill>
            <a:srgbClr val="E8F5E9"/>
          </a:solidFill>
          <a:ln w="6350">
            <a:solidFill>
              <a:srgbClr val="004D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137160" cy="548640"/>
          </a:xfrm>
          <a:prstGeom prst="rect">
            <a:avLst/>
          </a:prstGeom>
          <a:solidFill>
            <a:srgbClr val="004D2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087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ผู้ใช้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664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บุคลากร มก.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119 คน trained  →  5,000 คน เป้าหมาย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5303520" cy="548640"/>
          </a:xfrm>
          <a:prstGeom prst="rect">
            <a:avLst/>
          </a:prstGeom>
          <a:solidFill>
            <a:srgbClr val="E8F5E9"/>
          </a:solidFill>
          <a:ln w="6350">
            <a:solidFill>
              <a:srgbClr val="0066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57400"/>
            <a:ext cx="137160" cy="548640"/>
          </a:xfrm>
          <a:prstGeom prst="rect">
            <a:avLst/>
          </a:prstGeom>
          <a:solidFill>
            <a:srgbClr val="006633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1031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2585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Workflows สำเร็จรูป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242316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Forms→LINE  |  Gmail→Drive  |  Sheets+AI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5303520" cy="548640"/>
          </a:xfrm>
          <a:prstGeom prst="rect">
            <a:avLst/>
          </a:prstGeom>
          <a:solidFill>
            <a:srgbClr val="E8F5E9"/>
          </a:solidFill>
          <a:ln w="6350">
            <a:solidFill>
              <a:srgbClr val="2E8B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651760"/>
            <a:ext cx="137160" cy="54864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6974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28529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n8n (workflow.ku.ac.th)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301752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Visual automation engine • ไม่ต้องเขียน code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5303520" cy="548640"/>
          </a:xfrm>
          <a:prstGeom prst="rect">
            <a:avLst/>
          </a:prstGeom>
          <a:solidFill>
            <a:srgbClr val="F5EDD6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246120"/>
            <a:ext cx="137160" cy="5486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291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Brain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" y="34472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KU LLM Gateway (apigw.ku.ac.th)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" y="361188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Mistral-7B (chat) + BGE-M3 (embeddings)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5303520" cy="548640"/>
          </a:xfrm>
          <a:prstGeom prst="rect">
            <a:avLst/>
          </a:prstGeom>
          <a:solidFill>
            <a:srgbClr val="E8F5E9"/>
          </a:solidFill>
          <a:ln w="6350">
            <a:solidFill>
              <a:srgbClr val="0066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840480"/>
            <a:ext cx="137160" cy="548640"/>
          </a:xfrm>
          <a:prstGeom prst="rect">
            <a:avLst/>
          </a:prstGeom>
          <a:solidFill>
            <a:srgbClr val="006633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8862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5800" y="40416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Google Workspace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" y="420624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Forms • Sheets • Gmail • Drive (KU domain)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434840"/>
            <a:ext cx="5303520" cy="548640"/>
          </a:xfrm>
          <a:prstGeom prst="rect">
            <a:avLst/>
          </a:prstGeom>
          <a:solidFill>
            <a:srgbClr val="F8F9F7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434840"/>
            <a:ext cx="137160" cy="5486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44805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800" y="46360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KU Cloud + Network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5800" y="480060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Data center มก. • Network backbone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3504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จุดเด่นของโครงสร้างนี้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035040" y="1920240"/>
            <a:ext cx="411480" cy="411480"/>
          </a:xfrm>
          <a:prstGeom prst="ellipse">
            <a:avLst/>
          </a:prstGeom>
          <a:solidFill>
            <a:srgbClr val="006633"/>
          </a:solidFill>
          <a:ln/>
        </p:spPr>
      </p:sp>
      <p:sp>
        <p:nvSpPr>
          <p:cNvPr id="36" name="Text 34"/>
          <p:cNvSpPr/>
          <p:nvPr/>
        </p:nvSpPr>
        <p:spPr>
          <a:xfrm>
            <a:off x="603504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537960" y="19019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ฟรี!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537960" y="21671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ใช้ของ มก. ทั้งหมด — ไม่ต้องเสียค่า OpenAI/Anthropic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035040" y="2606040"/>
            <a:ext cx="411480" cy="411480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40" name="Text 38"/>
          <p:cNvSpPr/>
          <p:nvPr/>
        </p:nvSpPr>
        <p:spPr>
          <a:xfrm>
            <a:off x="603504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🔒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537960" y="25877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Privacy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537960" y="28529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Data ทั้งหมดอยู่ใน มก. — ไม่ส่งออกนอกองค์กร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035040" y="3291840"/>
            <a:ext cx="411480" cy="41148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44" name="Text 42"/>
          <p:cNvSpPr/>
          <p:nvPr/>
        </p:nvSpPr>
        <p:spPr>
          <a:xfrm>
            <a:off x="603504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⚡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537960" y="32735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เร็ว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6537960" y="35387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Network ภายใน มก. — latency ต่ำ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035040" y="3977640"/>
            <a:ext cx="411480" cy="411480"/>
          </a:xfrm>
          <a:prstGeom prst="ellipse">
            <a:avLst/>
          </a:prstGeom>
          <a:solidFill>
            <a:srgbClr val="004D26"/>
          </a:solidFill>
          <a:ln/>
        </p:spPr>
      </p:sp>
      <p:sp>
        <p:nvSpPr>
          <p:cNvPr id="48" name="Text 46"/>
          <p:cNvSpPr/>
          <p:nvPr/>
        </p:nvSpPr>
        <p:spPr>
          <a:xfrm>
            <a:off x="603504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🎓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537960" y="39593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เหมาะกับการศึกษา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6537960" y="42245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ปรับ + ขยายตามความต้องการอาจารย์/บุคลากร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6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ทำได้แล้ววันนี้ — 5 Pattern ที่ขยายต่อได้ทันที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Quick Wins — Use cases ที่บุคลากร 119 คน ทดสอบแล้วใน Foundation Workshop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64592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0066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1645920" cy="109728"/>
          </a:xfrm>
          <a:prstGeom prst="rect">
            <a:avLst/>
          </a:prstGeom>
          <a:solidFill>
            <a:srgbClr val="006633"/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1554480"/>
            <a:ext cx="320040" cy="320040"/>
          </a:xfrm>
          <a:prstGeom prst="ellipse">
            <a:avLst/>
          </a:prstGeom>
          <a:solidFill>
            <a:srgbClr val="006633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คำร้องนิสิต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→ LINE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นิสิตยื่นคำร้อง → แจ้งเจ้าหน้าที่ทันทีใน 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ลด lag time จาก 2 วัน → 5 วินาที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154680"/>
            <a:ext cx="1371600" cy="0"/>
          </a:xfrm>
          <a:prstGeom prst="line">
            <a:avLst/>
          </a:prstGeom>
          <a:noFill/>
          <a:ln w="6350">
            <a:solidFill>
              <a:srgbClr val="006633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02920" y="3200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02920" y="35844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ชม./ปี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57400" y="1371600"/>
            <a:ext cx="164592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9A9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57400" y="1371600"/>
            <a:ext cx="1645920" cy="10972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6" name="Shape 14"/>
          <p:cNvSpPr/>
          <p:nvPr/>
        </p:nvSpPr>
        <p:spPr>
          <a:xfrm>
            <a:off x="3246120" y="1554480"/>
            <a:ext cx="320040" cy="320040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17" name="Text 15"/>
          <p:cNvSpPr/>
          <p:nvPr/>
        </p:nvSpPr>
        <p:spPr>
          <a:xfrm>
            <a:off x="324612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94560" y="16002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รวบรวมเอกสาร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94560" y="2011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→ Drive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94560" y="22860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ใบเสร็จ/รายงานที่เข้ามาทาง email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จัดเก็บอัตโนมัติใน Drive โฟลเดอร์ที่กำหนด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194560" y="3154680"/>
            <a:ext cx="1371600" cy="0"/>
          </a:xfrm>
          <a:prstGeom prst="line">
            <a:avLst/>
          </a:prstGeom>
          <a:noFill/>
          <a:ln w="6350">
            <a:solidFill>
              <a:srgbClr val="C9A961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2194560" y="3200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2194560" y="35844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ชม./ปี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49040" y="1371600"/>
            <a:ext cx="164592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2E8B5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749040" y="1371600"/>
            <a:ext cx="1645920" cy="10972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6" name="Shape 24"/>
          <p:cNvSpPr/>
          <p:nvPr/>
        </p:nvSpPr>
        <p:spPr>
          <a:xfrm>
            <a:off x="4937760" y="1554480"/>
            <a:ext cx="320040" cy="32004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886200" y="16002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อวยพรอัตโนมัติ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886200" y="2011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→ LINE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86200" y="22860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ส่งข้อความวันเกิด/วันสำคัญ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ให้บุคลากรในหน่วยงานทุกเช้า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886200" y="3154680"/>
            <a:ext cx="1371600" cy="0"/>
          </a:xfrm>
          <a:prstGeom prst="line">
            <a:avLst/>
          </a:prstGeom>
          <a:noFill/>
          <a:ln w="6350">
            <a:solidFill>
              <a:srgbClr val="2E8B57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3886200" y="3200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3886200" y="35844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ชม./ปี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40680" y="1371600"/>
            <a:ext cx="164592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004D2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40680" y="1371600"/>
            <a:ext cx="1645920" cy="109728"/>
          </a:xfrm>
          <a:prstGeom prst="rect">
            <a:avLst/>
          </a:prstGeom>
          <a:solidFill>
            <a:srgbClr val="004D26"/>
          </a:solidFill>
          <a:ln/>
        </p:spPr>
      </p:sp>
      <p:sp>
        <p:nvSpPr>
          <p:cNvPr id="36" name="Shape 34"/>
          <p:cNvSpPr/>
          <p:nvPr/>
        </p:nvSpPr>
        <p:spPr>
          <a:xfrm>
            <a:off x="6629400" y="1554480"/>
            <a:ext cx="320040" cy="320040"/>
          </a:xfrm>
          <a:prstGeom prst="ellipse">
            <a:avLst/>
          </a:prstGeom>
          <a:solidFill>
            <a:srgbClr val="004D26"/>
          </a:solidFill>
          <a:ln/>
        </p:spPr>
      </p:sp>
      <p:sp>
        <p:nvSpPr>
          <p:cNvPr id="37" name="Text 35"/>
          <p:cNvSpPr/>
          <p:nvPr/>
        </p:nvSpPr>
        <p:spPr>
          <a:xfrm>
            <a:off x="662940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577840" y="16002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เฝ้าระวังสต๊อก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577840" y="2011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Sheets → Alert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77840" y="22860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ตรวจ stock ทุก 6 ชม. → ถ้าต่ำ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แจ้งผู้รับผิดชอบทาง LINE/Email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577840" y="3154680"/>
            <a:ext cx="1371600" cy="0"/>
          </a:xfrm>
          <a:prstGeom prst="line">
            <a:avLst/>
          </a:prstGeom>
          <a:noFill/>
          <a:ln w="6350">
            <a:solidFill>
              <a:srgbClr val="004D26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5577840" y="3200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5577840" y="35844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stockout/ปี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132320" y="1371600"/>
            <a:ext cx="164592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B83D3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132320" y="1371600"/>
            <a:ext cx="1645920" cy="109728"/>
          </a:xfrm>
          <a:prstGeom prst="rect">
            <a:avLst/>
          </a:prstGeom>
          <a:solidFill>
            <a:srgbClr val="B83D3D"/>
          </a:solidFill>
          <a:ln/>
        </p:spPr>
      </p:sp>
      <p:sp>
        <p:nvSpPr>
          <p:cNvPr id="46" name="Shape 44"/>
          <p:cNvSpPr/>
          <p:nvPr/>
        </p:nvSpPr>
        <p:spPr>
          <a:xfrm>
            <a:off x="8321040" y="1554480"/>
            <a:ext cx="320040" cy="320040"/>
          </a:xfrm>
          <a:prstGeom prst="ellipse">
            <a:avLst/>
          </a:prstGeom>
          <a:solidFill>
            <a:srgbClr val="B83D3D"/>
          </a:solidFill>
          <a:ln/>
        </p:spPr>
      </p:sp>
      <p:sp>
        <p:nvSpPr>
          <p:cNvPr id="47" name="Text 45"/>
          <p:cNvSpPr/>
          <p:nvPr/>
        </p:nvSpPr>
        <p:spPr>
          <a:xfrm>
            <a:off x="832104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269480" y="16002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สรุปเอกสาร + AI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269480" y="2011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Sheets → KU LLM → Email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269480" y="22860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AI สรุปรายงานเบิกจ่ายรายเดือน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ส่ง executive ทางอีเมล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269480" y="3154680"/>
            <a:ext cx="1371600" cy="0"/>
          </a:xfrm>
          <a:prstGeom prst="line">
            <a:avLst/>
          </a:prstGeom>
          <a:noFill/>
          <a:ln w="6350">
            <a:solidFill>
              <a:srgbClr val="B83D3D"/>
            </a:solidFill>
            <a:prstDash val="dash"/>
          </a:ln>
        </p:spPr>
      </p:sp>
      <p:sp>
        <p:nvSpPr>
          <p:cNvPr id="52" name="Text 50"/>
          <p:cNvSpPr/>
          <p:nvPr/>
        </p:nvSpPr>
        <p:spPr>
          <a:xfrm>
            <a:off x="7269480" y="3200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800" dirty="0"/>
          </a:p>
        </p:txBody>
      </p:sp>
      <p:sp>
        <p:nvSpPr>
          <p:cNvPr id="53" name="Text 51"/>
          <p:cNvSpPr/>
          <p:nvPr/>
        </p:nvSpPr>
        <p:spPr>
          <a:xfrm>
            <a:off x="7269480" y="35844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ชม./ปี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solidFill>
            <a:srgbClr val="006633"/>
          </a:solidFill>
          <a:ln/>
        </p:spPr>
      </p:sp>
      <p:sp>
        <p:nvSpPr>
          <p:cNvPr id="55" name="Text 53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 Pattern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 ×  33 ส่วนงาน  ×  4 วิทยาเขต  =  </a:t>
            </a:r>
            <a:pPr algn="ct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ROI หลักหมื่นชั่วโมง/ปี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EDD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ทุก pattern reuse ได้ในงานอื่น — บุคลากรปรับเองได้โดยไม่ต้องเขียน code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3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Roadmap 18 เดือน + งบที่ขอ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จาก Foundation → KU-wide AI organization ภายใน 18 เดือน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3246120"/>
            <a:ext cx="8229600" cy="0"/>
          </a:xfrm>
          <a:prstGeom prst="line">
            <a:avLst/>
          </a:prstGeom>
          <a:noFill/>
          <a:ln w="25400">
            <a:solidFill>
              <a:srgbClr val="0066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2011680" cy="1691640"/>
          </a:xfrm>
          <a:prstGeom prst="rect">
            <a:avLst/>
          </a:prstGeom>
          <a:solidFill>
            <a:srgbClr val="E8F5E9"/>
          </a:solidFill>
          <a:ln w="6350">
            <a:solidFill>
              <a:srgbClr val="2E8B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011680" cy="10972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184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/ 2569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00200" y="1618488"/>
            <a:ext cx="731520" cy="256032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9" name="Text 7"/>
          <p:cNvSpPr/>
          <p:nvPr/>
        </p:nvSpPr>
        <p:spPr>
          <a:xfrm>
            <a:off x="1600200" y="161848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Foundation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94360" y="23774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Workshop 2 วัน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บุคลากร 119 คน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 use cases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71600" y="3154680"/>
            <a:ext cx="182880" cy="182880"/>
          </a:xfrm>
          <a:prstGeom prst="ellipse">
            <a:avLst/>
          </a:prstGeom>
          <a:solidFill>
            <a:srgbClr val="2E8B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87752" y="1417320"/>
            <a:ext cx="2011680" cy="1691640"/>
          </a:xfrm>
          <a:prstGeom prst="rect">
            <a:avLst/>
          </a:prstGeom>
          <a:solidFill>
            <a:srgbClr val="E8F5E9"/>
          </a:solidFill>
          <a:ln w="6350">
            <a:solidFill>
              <a:srgbClr val="0066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87752" y="1417320"/>
            <a:ext cx="2011680" cy="109728"/>
          </a:xfrm>
          <a:prstGeom prst="rect">
            <a:avLst/>
          </a:prstGeom>
          <a:solidFill>
            <a:srgbClr val="006633"/>
          </a:solidFill>
          <a:ln/>
        </p:spPr>
      </p:sp>
      <p:sp>
        <p:nvSpPr>
          <p:cNvPr id="15" name="Text 13"/>
          <p:cNvSpPr/>
          <p:nvPr/>
        </p:nvSpPr>
        <p:spPr>
          <a:xfrm>
            <a:off x="2724912" y="16184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Q2-Q3 / 2569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30752" y="1618488"/>
            <a:ext cx="731520" cy="256032"/>
          </a:xfrm>
          <a:prstGeom prst="rect">
            <a:avLst/>
          </a:prstGeom>
          <a:solidFill>
            <a:srgbClr val="006633"/>
          </a:solidFill>
          <a:ln/>
        </p:spPr>
      </p:sp>
      <p:sp>
        <p:nvSpPr>
          <p:cNvPr id="17" name="Text 15"/>
          <p:cNvSpPr/>
          <p:nvPr/>
        </p:nvSpPr>
        <p:spPr>
          <a:xfrm>
            <a:off x="3730752" y="161848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724912" y="1920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Applied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724912" y="23774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Power users 50 คน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งานจริงในส่วนงาน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วัด KPI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02152" y="3154680"/>
            <a:ext cx="182880" cy="182880"/>
          </a:xfrm>
          <a:prstGeom prst="ellipse">
            <a:avLst/>
          </a:prstGeom>
          <a:solidFill>
            <a:srgbClr val="00663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18304" y="1417320"/>
            <a:ext cx="2011680" cy="1691640"/>
          </a:xfrm>
          <a:prstGeom prst="rect">
            <a:avLst/>
          </a:prstGeom>
          <a:solidFill>
            <a:srgbClr val="F5EDD6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18304" y="1417320"/>
            <a:ext cx="2011680" cy="10972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3" name="Text 21"/>
          <p:cNvSpPr/>
          <p:nvPr/>
        </p:nvSpPr>
        <p:spPr>
          <a:xfrm>
            <a:off x="4855464" y="16184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/ 2569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61304" y="1618488"/>
            <a:ext cx="731520" cy="25603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5" name="Text 23"/>
          <p:cNvSpPr/>
          <p:nvPr/>
        </p:nvSpPr>
        <p:spPr>
          <a:xfrm>
            <a:off x="5861304" y="161848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55464" y="1920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Faculty Pilot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855464" y="23774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 ส่วนงาน นำร่อง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สร้าง AI champion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ต่อหน่วยงาน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32704" y="3154680"/>
            <a:ext cx="182880" cy="182880"/>
          </a:xfrm>
          <a:prstGeom prst="ellipse">
            <a:avLst/>
          </a:prstGeom>
          <a:solidFill>
            <a:srgbClr val="C9A9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48856" y="1417320"/>
            <a:ext cx="2011680" cy="1691640"/>
          </a:xfrm>
          <a:prstGeom prst="rect">
            <a:avLst/>
          </a:prstGeom>
          <a:solidFill>
            <a:srgbClr val="E8F5E9"/>
          </a:solidFill>
          <a:ln w="6350">
            <a:solidFill>
              <a:srgbClr val="004D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48856" y="1417320"/>
            <a:ext cx="2011680" cy="109728"/>
          </a:xfrm>
          <a:prstGeom prst="rect">
            <a:avLst/>
          </a:prstGeom>
          <a:solidFill>
            <a:srgbClr val="004D26"/>
          </a:solidFill>
          <a:ln/>
        </p:spPr>
      </p:sp>
      <p:sp>
        <p:nvSpPr>
          <p:cNvPr id="31" name="Text 29"/>
          <p:cNvSpPr/>
          <p:nvPr/>
        </p:nvSpPr>
        <p:spPr>
          <a:xfrm>
            <a:off x="6986016" y="16184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2570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991856" y="1618488"/>
            <a:ext cx="731520" cy="256032"/>
          </a:xfrm>
          <a:prstGeom prst="rect">
            <a:avLst/>
          </a:prstGeom>
          <a:solidFill>
            <a:srgbClr val="004D26"/>
          </a:solidFill>
          <a:ln/>
        </p:spPr>
      </p:sp>
      <p:sp>
        <p:nvSpPr>
          <p:cNvPr id="33" name="Text 31"/>
          <p:cNvSpPr/>
          <p:nvPr/>
        </p:nvSpPr>
        <p:spPr>
          <a:xfrm>
            <a:off x="7991856" y="161848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986016" y="1920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KU-wide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986016" y="23774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5,000 staff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AI Center of Excellence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Research tie-up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763256" y="3154680"/>
            <a:ext cx="182880" cy="182880"/>
          </a:xfrm>
          <a:prstGeom prst="ellipse">
            <a:avLst/>
          </a:prstGeom>
          <a:solidFill>
            <a:srgbClr val="004D2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520440"/>
            <a:ext cx="2651760" cy="868680"/>
          </a:xfrm>
          <a:prstGeom prst="rect">
            <a:avLst/>
          </a:prstGeom>
          <a:solidFill>
            <a:srgbClr val="FAF6EE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3611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1188720" y="3611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งบประมาณ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188720" y="38404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594360" y="41788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Phase 2 — วิทยากร + workshop + infra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246120" y="3520440"/>
            <a:ext cx="2651760" cy="868680"/>
          </a:xfrm>
          <a:prstGeom prst="rect">
            <a:avLst/>
          </a:prstGeom>
          <a:solidFill>
            <a:srgbClr val="FAF6EE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3280" y="3611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3977640" y="3611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บุคลากรเฉพาะทาง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977640" y="38404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FTE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3383280" y="41788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AI / n8n specialist เต็มเวลา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035040" y="3520440"/>
            <a:ext cx="2651760" cy="868680"/>
          </a:xfrm>
          <a:prstGeom prst="rect">
            <a:avLst/>
          </a:prstGeom>
          <a:solidFill>
            <a:srgbClr val="FAF6EE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72200" y="3611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6766560" y="3611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ระยะเวลา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766560" y="38404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เดือน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6172200" y="41788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Foundation → KU-wide rollout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solidFill>
            <a:srgbClr val="004D26"/>
          </a:solidFill>
          <a:ln/>
        </p:spPr>
      </p:sp>
      <p:sp>
        <p:nvSpPr>
          <p:cNvPr id="53" name="Shape 51"/>
          <p:cNvSpPr/>
          <p:nvPr/>
        </p:nvSpPr>
        <p:spPr>
          <a:xfrm>
            <a:off x="457200" y="4526280"/>
            <a:ext cx="137160" cy="5029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4" name="Text 52"/>
          <p:cNvSpPr/>
          <p:nvPr/>
        </p:nvSpPr>
        <p:spPr>
          <a:xfrm>
            <a:off x="731520" y="45262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ขออนุมัติ </a:t>
            </a:r>
            <a:pPr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Phase 2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— </a:t>
            </a:r>
            <a:pPr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ภายใน Q2 / 2569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สำหรับองค์กร — มหาวิทยาลัยเกษตรศาสตร์</dc:title>
  <dc:subject>PptxGenJS Presentation</dc:subject>
  <dc:creator>สำนักบริการคอมพิวเตอร์ × ฝ่ายเทคโนโลยีดิจิทัลและปัญญาประดิษฐ์</dc:creator>
  <cp:lastModifiedBy>สำนักบริการคอมพิวเตอร์ × ฝ่ายเทคโนโลยีดิจิทัลและปัญญาประดิษฐ์</cp:lastModifiedBy>
  <cp:revision>1</cp:revision>
  <dcterms:created xsi:type="dcterms:W3CDTF">2026-05-25T15:05:47Z</dcterms:created>
  <dcterms:modified xsi:type="dcterms:W3CDTF">2026-05-25T15:05:47Z</dcterms:modified>
</cp:coreProperties>
</file>