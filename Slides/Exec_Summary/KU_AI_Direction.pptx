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สำหรับองค์กร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ทิศทางการนำ AI มาใช้ใน มหาวิทยาลัยเกษตรศาสตร์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1828800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914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0" b="1" i="1" dirty="0">
                <a:solidFill>
                  <a:srgbClr val="006633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5,000+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rgbClr val="C9A961">
                    <a:alpha val="70000"/>
                  </a:srgbClr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มก. ที่สามารถใช้ AI ได้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ภาพรวมโครงสร้างพื้นฐาน AI, โอกาส, และ Roadmap 18 เดือน
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สำหรับผู้บริหารระดับสูงของมหาวิทยาลัยเกษตรศาสตร์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754880"/>
            <a:ext cx="78638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สำนักบริการคอมพิวเตอร์  ×  ฝ่ายเทคโนโลยีดิจิทัลและปัญญาประดิษฐ์   |   พฤษภาคม 2569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 มก. ต้องลงทุน AI ตั้งแต่วันนี้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Why now — 3 มุมมองที่ผู้บริหาร มก. ควรพิจารณา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65176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2E8B57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🌍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แนวโน้มโลก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กระทบทุกอุตสาหกรรม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มหาวิทยาลัยที่ไม่ปรับตัว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จะเสียความสามารถ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ในการแข่งขัน 5 ปีข้างหน้า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ของงาน admin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จะเปลี่ยนรูปแบบ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463040"/>
            <a:ext cx="265176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C9A961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3429000" y="1783080"/>
            <a:ext cx="640080" cy="64008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🏛️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4290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ม.รัฐในไทย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จุฬาฯ + มหิดล + ม.รังสิต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ลงทุน AI Center,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LLM ของตัวเอง,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และ workflow 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มหาวิทยาลัยคู่แข่ง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ลงทุนแล้ว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0" y="1463040"/>
            <a:ext cx="2651760" cy="2743200"/>
          </a:xfrm>
          <a:prstGeom prst="rect">
            <a:avLst/>
          </a:prstGeom>
          <a:solidFill>
            <a:srgbClr val="F8F9F7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463040"/>
            <a:ext cx="265176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i="1" dirty="0">
                <a:solidFill>
                  <a:srgbClr val="006633">
                    <a:alpha val="4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6172200" y="1783080"/>
            <a:ext cx="640080" cy="64008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⏰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722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โอกาสของ มก.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7220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ประหยัด ~200 ชม./ปี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ต่อบุคลากร 1 คน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×  5,000 คน เป้าหมาย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7220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617220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ชั่วโมง/ปี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ที่ประหยัดได้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การไม่ทำ 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= </a:t>
            </a:r>
            <a:pPr algn="ctr"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การถอยหลัง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—  ในขณะที่คู่แข่งเดินไปข้างหน้า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เรามีของพร้อมแล้ว — ไม่ต้องเริ่มจาก 0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AI Stack — โครงสร้างพื้นฐานที่มหาวิทยาลัยลงทุนไว้แล้ว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4D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37160" cy="54864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087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ผู้ใช้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มก.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119 คน trained  →  5,000 คน เป้าหมาย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057400"/>
            <a:ext cx="137160" cy="5486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103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22585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Workflows สำเร็จรูป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Forms→LINE  |  Gmail→Drive  |  Sheets+AI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651760"/>
            <a:ext cx="137160" cy="5486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974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n8n (workflow.ku.ac.th)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Visual automation engine • ไม่ต้องเขียน code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5303520" cy="548640"/>
          </a:xfrm>
          <a:prstGeom prst="rect">
            <a:avLst/>
          </a:prstGeom>
          <a:solidFill>
            <a:srgbClr val="F5EDD6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246120"/>
            <a:ext cx="137160" cy="5486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91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Brain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3447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LLM Gateway (apigw.ku.ac.th)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6118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Mistral-7B (chat) + BGE-M3 (embeddings)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5303520" cy="548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40480"/>
            <a:ext cx="137160" cy="5486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5800" y="4041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Workspace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420624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Forms • Sheets • Gmail • Drive (KU domain)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5303520" cy="548640"/>
          </a:xfrm>
          <a:prstGeom prst="rect">
            <a:avLst/>
          </a:prstGeom>
          <a:solidFill>
            <a:srgbClr val="F8F9F7"/>
          </a:solidFill>
          <a:ln w="6350">
            <a:solidFill>
              <a:srgbClr val="4A4A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434840"/>
            <a:ext cx="137160" cy="5486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4805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4636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 Cloud + Network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85800" y="48006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 center มก. • Network backbone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จุดเด่นของโครงสร้างนี้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035040" y="1920240"/>
            <a:ext cx="411480" cy="41148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36" name="Text 34"/>
          <p:cNvSpPr/>
          <p:nvPr/>
        </p:nvSpPr>
        <p:spPr>
          <a:xfrm>
            <a:off x="60350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537960" y="19019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ฟรี!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537960" y="2167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ใช้ของ มก. ทั้งหมด — ไม่ต้องเสียค่า OpenAI/Anthropic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2606040"/>
            <a:ext cx="411480" cy="41148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40" name="Text 38"/>
          <p:cNvSpPr/>
          <p:nvPr/>
        </p:nvSpPr>
        <p:spPr>
          <a:xfrm>
            <a:off x="60350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537960" y="25877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Privacy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537960" y="28529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 ทั้งหมดอยู่ใน มก. — ไม่ส่งออกนอกองค์กร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035040" y="3291840"/>
            <a:ext cx="411480" cy="4114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4" name="Text 42"/>
          <p:cNvSpPr/>
          <p:nvPr/>
        </p:nvSpPr>
        <p:spPr>
          <a:xfrm>
            <a:off x="603504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537960" y="32735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เร็ว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53796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Network ภายใน มก. — latency ต่ำ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035040" y="3977640"/>
            <a:ext cx="411480" cy="411480"/>
          </a:xfrm>
          <a:prstGeom prst="ellipse">
            <a:avLst/>
          </a:prstGeom>
          <a:solidFill>
            <a:srgbClr val="004D26"/>
          </a:solidFill>
          <a:ln/>
        </p:spPr>
      </p:sp>
      <p:sp>
        <p:nvSpPr>
          <p:cNvPr id="48" name="Text 46"/>
          <p:cNvSpPr/>
          <p:nvPr/>
        </p:nvSpPr>
        <p:spPr>
          <a:xfrm>
            <a:off x="603504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🎓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537960" y="3959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เหมาะกับการศึกษา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537960" y="42245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ปรับ + ขยายตามความต้องการอาจารย์/บุคลากร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AI Agent  —  Mapped กับโครงสร้าง มก.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 องค์ประกอบหลัก  •  ทุกตัวแมพกับโครงสร้างที่ มก. มีอยู่แล้ว (apigw.ku.ac.th + workflow.ku.ac.th)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60520" y="2606040"/>
            <a:ext cx="1005840" cy="1005840"/>
          </a:xfrm>
          <a:prstGeom prst="roundRect">
            <a:avLst>
              <a:gd name="adj" fmla="val 10909"/>
            </a:avLst>
          </a:prstGeom>
          <a:solidFill>
            <a:srgbClr val="E8F5E9"/>
          </a:solidFill>
          <a:ln w="25400">
            <a:solidFill>
              <a:srgbClr val="0066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60520" y="265176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60520" y="3246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สมอง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143000"/>
            <a:ext cx="2560320" cy="502920"/>
          </a:xfrm>
          <a:prstGeom prst="rect">
            <a:avLst/>
          </a:prstGeom>
          <a:solidFill>
            <a:srgbClr val="FFFFFF"/>
          </a:solidFill>
          <a:ln w="22860">
            <a:solidFill>
              <a:srgbClr val="C9A96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83280" y="1143000"/>
            <a:ext cx="256032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252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86200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คำสั่งเริ่มต้น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86200" y="14721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(Prompt)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828800"/>
            <a:ext cx="2560320" cy="594360"/>
          </a:xfrm>
          <a:prstGeom prst="rect">
            <a:avLst/>
          </a:prstGeom>
          <a:solidFill>
            <a:srgbClr val="FFFFFF"/>
          </a:solidFill>
          <a:ln w="22860">
            <a:solidFill>
              <a:srgbClr val="004D26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828800"/>
            <a:ext cx="2560320" cy="73152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938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88620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แกนหลักของเอเจนต์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86200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(LLM / สมอง)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2148840"/>
            <a:ext cx="2377440" cy="219456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1488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apigw.ku.ac.th  •  KU LLM (Mistral-7B)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664208"/>
            <a:ext cx="0" cy="146304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663440" y="2441448"/>
            <a:ext cx="0" cy="146304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2103120"/>
            <a:ext cx="2560320" cy="1234440"/>
          </a:xfrm>
          <a:prstGeom prst="rect">
            <a:avLst/>
          </a:prstGeom>
          <a:solidFill>
            <a:srgbClr val="FFFFFF"/>
          </a:solidFill>
          <a:ln w="22860">
            <a:solidFill>
              <a:srgbClr val="2E8B5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103120"/>
            <a:ext cx="2560320" cy="7315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💭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60120" y="2221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โมดูลความจำ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24323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(Memory)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💬 ระยะสั้น (chat history)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🗄 ระยะยาว (database)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063240"/>
            <a:ext cx="2377440" cy="219456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063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 •  BGE-M3 embeddings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063240" y="2971800"/>
            <a:ext cx="1051560" cy="0"/>
          </a:xfrm>
          <a:prstGeom prst="line">
            <a:avLst/>
          </a:prstGeom>
          <a:noFill/>
          <a:ln w="2286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063240" y="3154680"/>
            <a:ext cx="1051560" cy="0"/>
          </a:xfrm>
          <a:prstGeom prst="line">
            <a:avLst/>
          </a:prstGeom>
          <a:noFill/>
          <a:ln w="2286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2103120"/>
            <a:ext cx="2560320" cy="1234440"/>
          </a:xfrm>
          <a:prstGeom prst="rect">
            <a:avLst/>
          </a:prstGeom>
          <a:solidFill>
            <a:srgbClr val="FFFFFF"/>
          </a:solidFill>
          <a:ln w="22860">
            <a:solidFill>
              <a:srgbClr val="C9A96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263640" y="2103120"/>
            <a:ext cx="256032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766560" y="2221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โมดูลการวางแผน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24323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(Planning)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508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Workflow steps: ① → ② → ③ → 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breakdown task → execute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55080" y="3063240"/>
            <a:ext cx="2377440" cy="219456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3063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workflow.ku.ac.th  •  n8n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212080" y="2971800"/>
            <a:ext cx="1033272" cy="0"/>
          </a:xfrm>
          <a:prstGeom prst="line">
            <a:avLst/>
          </a:prstGeom>
          <a:noFill/>
          <a:ln w="2286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212080" y="3154680"/>
            <a:ext cx="1033272" cy="0"/>
          </a:xfrm>
          <a:prstGeom prst="line">
            <a:avLst/>
          </a:prstGeom>
          <a:noFill/>
          <a:ln w="2286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457200" y="3520440"/>
            <a:ext cx="2560320" cy="960120"/>
          </a:xfrm>
          <a:prstGeom prst="rect">
            <a:avLst/>
          </a:prstGeom>
          <a:solidFill>
            <a:srgbClr val="FFFFFF"/>
          </a:solidFill>
          <a:ln w="22860">
            <a:solidFill>
              <a:srgbClr val="006633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3520440"/>
            <a:ext cx="2560320" cy="73152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" y="3630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960120" y="36393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องค์ความรู้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60120" y="3849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(Knowledge)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4087368"/>
            <a:ext cx="2377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course materials, KU databases,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 papers, manuals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4206240"/>
            <a:ext cx="2377440" cy="219456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2062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ku.ac.th data sources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63240" y="3703320"/>
            <a:ext cx="1097280" cy="-41148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657600" y="3703320"/>
            <a:ext cx="2377440" cy="777240"/>
          </a:xfrm>
          <a:prstGeom prst="rect">
            <a:avLst/>
          </a:prstGeom>
          <a:solidFill>
            <a:srgbClr val="FFFFFF"/>
          </a:solidFill>
          <a:ln w="22860">
            <a:solidFill>
              <a:srgbClr val="B83D3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657600" y="3703320"/>
            <a:ext cx="2377440" cy="73152"/>
          </a:xfrm>
          <a:prstGeom prst="rect">
            <a:avLst/>
          </a:prstGeom>
          <a:solidFill>
            <a:srgbClr val="B83D3D"/>
          </a:solidFill>
          <a:ln/>
        </p:spPr>
      </p:sp>
      <p:sp>
        <p:nvSpPr>
          <p:cNvPr id="52" name="Text 50"/>
          <p:cNvSpPr/>
          <p:nvPr/>
        </p:nvSpPr>
        <p:spPr>
          <a:xfrm>
            <a:off x="370332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🛠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4160520" y="3822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160520" y="4032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(Tools)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749040" y="4206240"/>
            <a:ext cx="2194560" cy="219456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49040" y="42062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APIs + KU systems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63440" y="3630168"/>
            <a:ext cx="0" cy="64008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6080760" y="4087368"/>
            <a:ext cx="228600" cy="-292608"/>
          </a:xfrm>
          <a:prstGeom prst="line">
            <a:avLst/>
          </a:prstGeom>
          <a:noFill/>
          <a:ln w="12700">
            <a:solidFill>
              <a:srgbClr val="B83D3D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6263640" y="3703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537960" y="368503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ค้นหาข้อมูล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 flipV="1">
            <a:off x="6080760" y="4087368"/>
            <a:ext cx="228600" cy="-36576"/>
          </a:xfrm>
          <a:prstGeom prst="line">
            <a:avLst/>
          </a:prstGeom>
          <a:noFill/>
          <a:ln w="12700">
            <a:solidFill>
              <a:srgbClr val="B83D3D"/>
            </a:solidFill>
            <a:prstDash val="dash"/>
          </a:ln>
        </p:spPr>
      </p:sp>
      <p:sp>
        <p:nvSpPr>
          <p:cNvPr id="62" name="Text 60"/>
          <p:cNvSpPr/>
          <p:nvPr/>
        </p:nvSpPr>
        <p:spPr>
          <a:xfrm>
            <a:off x="6263640" y="395935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🧮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537960" y="39410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คำนวณ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080760" y="4087368"/>
            <a:ext cx="228600" cy="219456"/>
          </a:xfrm>
          <a:prstGeom prst="line">
            <a:avLst/>
          </a:prstGeom>
          <a:noFill/>
          <a:ln w="12700">
            <a:solidFill>
              <a:srgbClr val="B83D3D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6263640" y="42153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🗄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537960" y="419709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57200" y="4617720"/>
            <a:ext cx="109728" cy="4114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9" name="Text 67"/>
          <p:cNvSpPr/>
          <p:nvPr/>
        </p:nvSpPr>
        <p:spPr>
          <a:xfrm>
            <a:off x="6858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 มก. ครบ! 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= ผู้ใช้   •   LLM = </a:t>
            </a:r>
            <a:pPr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apigw.ku.ac.th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 •   Planning = </a:t>
            </a:r>
            <a:pPr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workflow.ku.ac.th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 •   Memory/Knowledge/Tools = KU data + APIs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Agentic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Multi-Agent System  —  ทีม AI ที่ทำงานร่วมกัน (เหมาะกับงานซับซ้อน เช่น วิจัย วิเคราะห์ ตัดสินใจ)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029200" cy="3291840"/>
          </a:xfrm>
          <a:prstGeom prst="rect">
            <a:avLst/>
          </a:prstGeom>
          <a:solidFill>
            <a:srgbClr val="F8F9F7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1600200"/>
            <a:ext cx="2560320" cy="640080"/>
          </a:xfrm>
          <a:prstGeom prst="rect">
            <a:avLst/>
          </a:prstGeom>
          <a:solidFill>
            <a:srgbClr val="004D26"/>
          </a:solidFill>
          <a:ln w="25400">
            <a:solidFill>
              <a:srgbClr val="0066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783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0" y="16459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28600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ED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แบ่งงาน + รวบรวมผล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H="1">
            <a:off x="2971800" y="2240280"/>
            <a:ext cx="-178308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922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" y="2788920"/>
            <a:ext cx="107899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 / รวบรวม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2971800" y="2240280"/>
            <a:ext cx="-59436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83794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37944" y="2788920"/>
            <a:ext cx="1078992" cy="7315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183794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83794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Analyzer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3794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วิเคราะห์ข้อมูล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71800" y="2240280"/>
            <a:ext cx="59436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02666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26664" y="2788920"/>
            <a:ext cx="1078992" cy="73152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24" name="Text 22"/>
          <p:cNvSpPr/>
          <p:nvPr/>
        </p:nvSpPr>
        <p:spPr>
          <a:xfrm>
            <a:off x="302666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02666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Writer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2666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ร่างเนื้อหา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71800" y="2240280"/>
            <a:ext cx="1783080" cy="548640"/>
          </a:xfrm>
          <a:prstGeom prst="line">
            <a:avLst/>
          </a:prstGeom>
          <a:noFill/>
          <a:ln w="12700">
            <a:solidFill>
              <a:srgbClr val="006633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215384" y="2788920"/>
            <a:ext cx="1078992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3D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15384" y="2788920"/>
            <a:ext cx="1078992" cy="73152"/>
          </a:xfrm>
          <a:prstGeom prst="rect">
            <a:avLst/>
          </a:prstGeom>
          <a:solidFill>
            <a:srgbClr val="B8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4215384" y="2926080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215384" y="329184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Reviewer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15384" y="350215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ตรวจคุณภาพ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691640" y="4023360"/>
            <a:ext cx="2560320" cy="502920"/>
          </a:xfrm>
          <a:prstGeom prst="rect">
            <a:avLst/>
          </a:prstGeom>
          <a:solidFill>
            <a:srgbClr val="C9A961"/>
          </a:solidFill>
          <a:ln w="6350">
            <a:solidFill>
              <a:srgbClr val="F5EDD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8308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194560" y="4023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194560" y="4270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คนตรวจ + อนุมัติ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71800" y="3703320"/>
            <a:ext cx="0" cy="320040"/>
          </a:xfrm>
          <a:prstGeom prst="line">
            <a:avLst/>
          </a:prstGeom>
          <a:noFill/>
          <a:ln w="19050">
            <a:solidFill>
              <a:srgbClr val="0066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23560" y="1417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vs Agentic AI — เมื่อไรใช้อะไร?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623560" y="1783080"/>
            <a:ext cx="3063240" cy="27432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40" name="Text 38"/>
          <p:cNvSpPr/>
          <p:nvPr/>
        </p:nvSpPr>
        <p:spPr>
          <a:xfrm>
            <a:off x="5623560" y="1783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446520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45236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23560" y="2057400"/>
            <a:ext cx="3063240" cy="292608"/>
          </a:xfrm>
          <a:prstGeom prst="rect">
            <a:avLst/>
          </a:prstGeom>
          <a:solidFill>
            <a:srgbClr val="F8F9F7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1500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46520" y="20574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 ตัว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452360" y="2057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หลายตัวเฉพาะทาง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23560" y="2350008"/>
            <a:ext cx="30632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23500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46520" y="23500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Q&amp;A, lookup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452360" y="23500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วิจัย, วิเคราะห์, ตัดสินใจ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23560" y="2642616"/>
            <a:ext cx="3063240" cy="292608"/>
          </a:xfrm>
          <a:prstGeom prst="rect">
            <a:avLst/>
          </a:prstGeom>
          <a:solidFill>
            <a:srgbClr val="F8F9F7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15000" y="26426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ความซับซ้อน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46520" y="26426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ต่ำ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452360" y="26426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สูง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23560" y="2935224"/>
            <a:ext cx="30632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F8F9F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15000" y="29352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ความเชื่อถือ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446520" y="2935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เร็ว แต่ผิดได้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452360" y="293522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ตรวจซ้อนกัน เชื่อถือสูง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23560" y="3337560"/>
            <a:ext cx="3063240" cy="1280160"/>
          </a:xfrm>
          <a:prstGeom prst="rect">
            <a:avLst/>
          </a:prstGeom>
          <a:solidFill>
            <a:srgbClr val="F5EDD6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0720" y="34290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ตัวอย่างใน มก.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760720" y="3657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ระบบช่วยร่างข้อเสนอวิจัย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5760720" y="39319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 </a:t>
            </a:r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ค้นวรรณกรรม</a:t>
            </a:r>
            <a:pPr indent="0" marL="0">
              <a:buNone/>
            </a:pPr>
            <a:r>
              <a:rPr lang="en-US" sz="1000" b="1" dirty="0">
                <a:solidFill>
                  <a:srgbClr val="2E8B5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→  Analyzer 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760720" y="39776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Researcher → Analyzer → Writer → Reviewer → คนยืนยัน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760720" y="4251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ลดเวลาทำ research review จาก 2 สัปดาห์  →  1 วัน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4617720"/>
            <a:ext cx="109728" cy="4114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7" name="Text 65"/>
          <p:cNvSpPr/>
          <p:nvPr/>
        </p:nvSpPr>
        <p:spPr>
          <a:xfrm>
            <a:off x="6858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Roadmap: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 = AI Agents เดี่ยว (workflow.ku.ac.th)  →  </a:t>
            </a:r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Applied = Agentic systems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(KU LLM + n8n + multi-agent orchestration)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ทำได้แล้ววันนี้ — 5 Pattern ที่ขยายต่อได้ทันที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Quick Wins — Use cases ที่บุคลากร 119 คน ทดสอบแล้วใน Foundation Workshop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0066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71600"/>
            <a:ext cx="164592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1554480"/>
            <a:ext cx="320040" cy="320040"/>
          </a:xfrm>
          <a:prstGeom prst="ellipse">
            <a:avLst/>
          </a:prstGeom>
          <a:solidFill>
            <a:srgbClr val="006633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คำร้องนิสิต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→ 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นิสิตยื่นคำร้อง → แจ้งเจ้าหน้าที่ทันทีใน 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ลด lag time จาก 2 วัน → 5 วินาที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1371600" cy="0"/>
          </a:xfrm>
          <a:prstGeom prst="line">
            <a:avLst/>
          </a:prstGeom>
          <a:noFill/>
          <a:ln w="6350">
            <a:solidFill>
              <a:srgbClr val="00663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0292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292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5740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A9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57400" y="1371600"/>
            <a:ext cx="16459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Shape 14"/>
          <p:cNvSpPr/>
          <p:nvPr/>
        </p:nvSpPr>
        <p:spPr>
          <a:xfrm>
            <a:off x="3246120" y="1554480"/>
            <a:ext cx="320040" cy="3200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รวบรวมเอกสาร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9456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→ Drive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ใบเสร็จ/รายงานที่เข้ามาทาง email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จัดเก็บอัตโนมัติใน Drive โฟลเดอร์ที่กำหนด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3154680"/>
            <a:ext cx="1371600" cy="0"/>
          </a:xfrm>
          <a:prstGeom prst="line">
            <a:avLst/>
          </a:prstGeom>
          <a:noFill/>
          <a:ln w="6350">
            <a:solidFill>
              <a:srgbClr val="C9A96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21945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219456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4904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2E8B5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49040" y="1371600"/>
            <a:ext cx="164592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1554480"/>
            <a:ext cx="320040" cy="3200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8620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อวยพรอัตโนมัติ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88620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→ LINE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ส่งข้อความวันเกิด/วันสำคัญ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ให้บุคลากรในหน่วยงานทุกเช้า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86200" y="3154680"/>
            <a:ext cx="1371600" cy="0"/>
          </a:xfrm>
          <a:prstGeom prst="line">
            <a:avLst/>
          </a:prstGeom>
          <a:noFill/>
          <a:ln w="6350">
            <a:solidFill>
              <a:srgbClr val="2E8B57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88620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388620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4068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004D2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40680" y="1371600"/>
            <a:ext cx="1645920" cy="109728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6" name="Shape 34"/>
          <p:cNvSpPr/>
          <p:nvPr/>
        </p:nvSpPr>
        <p:spPr>
          <a:xfrm>
            <a:off x="6629400" y="1554480"/>
            <a:ext cx="320040" cy="320040"/>
          </a:xfrm>
          <a:prstGeom prst="ellipse">
            <a:avLst/>
          </a:prstGeom>
          <a:solidFill>
            <a:srgbClr val="004D26"/>
          </a:solidFill>
          <a:ln/>
        </p:spPr>
      </p:sp>
      <p:sp>
        <p:nvSpPr>
          <p:cNvPr id="37" name="Text 35"/>
          <p:cNvSpPr/>
          <p:nvPr/>
        </p:nvSpPr>
        <p:spPr>
          <a:xfrm>
            <a:off x="662940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57784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เฝ้าระวังสต๊อก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57784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→ Alert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7784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 stock ทุก 6 ชม. → ถ้าต่ำ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แจ้งผู้รับผิดชอบทาง LINE/Email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577840" y="3154680"/>
            <a:ext cx="1371600" cy="0"/>
          </a:xfrm>
          <a:prstGeom prst="line">
            <a:avLst/>
          </a:prstGeom>
          <a:noFill/>
          <a:ln w="6350">
            <a:solidFill>
              <a:srgbClr val="004D2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557784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57784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stockout/ปี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32320" y="1371600"/>
            <a:ext cx="1645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B83D3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132320" y="1371600"/>
            <a:ext cx="1645920" cy="109728"/>
          </a:xfrm>
          <a:prstGeom prst="rect">
            <a:avLst/>
          </a:prstGeom>
          <a:solidFill>
            <a:srgbClr val="B83D3D"/>
          </a:solidFill>
          <a:ln/>
        </p:spPr>
      </p:sp>
      <p:sp>
        <p:nvSpPr>
          <p:cNvPr id="46" name="Shape 44"/>
          <p:cNvSpPr/>
          <p:nvPr/>
        </p:nvSpPr>
        <p:spPr>
          <a:xfrm>
            <a:off x="8321040" y="1554480"/>
            <a:ext cx="320040" cy="320040"/>
          </a:xfrm>
          <a:prstGeom prst="ellipse">
            <a:avLst/>
          </a:prstGeom>
          <a:solidFill>
            <a:srgbClr val="B83D3D"/>
          </a:solidFill>
          <a:ln/>
        </p:spPr>
      </p:sp>
      <p:sp>
        <p:nvSpPr>
          <p:cNvPr id="47" name="Text 45"/>
          <p:cNvSpPr/>
          <p:nvPr/>
        </p:nvSpPr>
        <p:spPr>
          <a:xfrm>
            <a:off x="832104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269480" y="1600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สรุปเอกสาร + AI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269480" y="2011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→ KU LLM → Email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69480" y="2286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สรุปรายงานเบิกจ่ายรายเดือน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 executive ทางอีเมล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269480" y="3154680"/>
            <a:ext cx="1371600" cy="0"/>
          </a:xfrm>
          <a:prstGeom prst="line">
            <a:avLst/>
          </a:prstGeom>
          <a:noFill/>
          <a:ln w="6350">
            <a:solidFill>
              <a:srgbClr val="B83D3D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26948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7269480" y="35844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ชม./ปี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Pattern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×  33 ส่วนงาน  ×  4 วิทยาเขต  =  </a:t>
            </a:r>
            <a:pPr algn="ct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ROI หลักหมื่นชั่วโมง/ปี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5ED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 pattern reuse ได้ในงานอื่น — บุคลากรปรับเองได้โดยไม่ต้องเขียน code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663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Roadmap 18 เดือน + งบที่ขอ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 Foundation → KU-wide AI organization ภายใน 18 เดือน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25400">
            <a:solidFill>
              <a:srgbClr val="0066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201168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/ 2569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00200" y="1618488"/>
            <a:ext cx="73152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Workshop 2 วัน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 119 คน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use cases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3154680"/>
            <a:ext cx="182880" cy="182880"/>
          </a:xfrm>
          <a:prstGeom prst="ellipse">
            <a:avLst/>
          </a:prstGeom>
          <a:solidFill>
            <a:srgbClr val="2E8B5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7752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66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87752" y="1417320"/>
            <a:ext cx="2011680" cy="109728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5" name="Text 13"/>
          <p:cNvSpPr/>
          <p:nvPr/>
        </p:nvSpPr>
        <p:spPr>
          <a:xfrm>
            <a:off x="2724912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Q2-Q3 / 2569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730752" y="1618488"/>
            <a:ext cx="731520" cy="256032"/>
          </a:xfrm>
          <a:prstGeom prst="rect">
            <a:avLst/>
          </a:prstGeom>
          <a:solidFill>
            <a:srgbClr val="006633"/>
          </a:solidFill>
          <a:ln/>
        </p:spPr>
      </p:sp>
      <p:sp>
        <p:nvSpPr>
          <p:cNvPr id="17" name="Text 15"/>
          <p:cNvSpPr/>
          <p:nvPr/>
        </p:nvSpPr>
        <p:spPr>
          <a:xfrm>
            <a:off x="3730752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24912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Applied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24912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Power users 50 คน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งานจริงในส่วนงาน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วัด KPI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02152" y="3154680"/>
            <a:ext cx="182880" cy="182880"/>
          </a:xfrm>
          <a:prstGeom prst="ellipse">
            <a:avLst/>
          </a:prstGeom>
          <a:solidFill>
            <a:srgbClr val="0066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18304" y="1417320"/>
            <a:ext cx="2011680" cy="1691640"/>
          </a:xfrm>
          <a:prstGeom prst="rect">
            <a:avLst/>
          </a:prstGeom>
          <a:solidFill>
            <a:srgbClr val="F5EDD6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201168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3" name="Text 21"/>
          <p:cNvSpPr/>
          <p:nvPr/>
        </p:nvSpPr>
        <p:spPr>
          <a:xfrm>
            <a:off x="4855464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/ 2569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61304" y="1618488"/>
            <a:ext cx="731520" cy="2560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3"/>
          <p:cNvSpPr/>
          <p:nvPr/>
        </p:nvSpPr>
        <p:spPr>
          <a:xfrm>
            <a:off x="5861304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55464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Faculty Pilot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55464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ส่วนงาน นำร่อง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 AI champion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ต่อหน่วยงาน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32704" y="3154680"/>
            <a:ext cx="182880" cy="182880"/>
          </a:xfrm>
          <a:prstGeom prst="ellipse">
            <a:avLst/>
          </a:prstGeom>
          <a:solidFill>
            <a:srgbClr val="C9A9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48856" y="1417320"/>
            <a:ext cx="2011680" cy="1691640"/>
          </a:xfrm>
          <a:prstGeom prst="rect">
            <a:avLst/>
          </a:prstGeom>
          <a:solidFill>
            <a:srgbClr val="E8F5E9"/>
          </a:solidFill>
          <a:ln w="6350">
            <a:solidFill>
              <a:srgbClr val="004D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48856" y="1417320"/>
            <a:ext cx="2011680" cy="109728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1" name="Text 29"/>
          <p:cNvSpPr/>
          <p:nvPr/>
        </p:nvSpPr>
        <p:spPr>
          <a:xfrm>
            <a:off x="6986016" y="16184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4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91856" y="1618488"/>
            <a:ext cx="731520" cy="256032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33" name="Text 31"/>
          <p:cNvSpPr/>
          <p:nvPr/>
        </p:nvSpPr>
        <p:spPr>
          <a:xfrm>
            <a:off x="7991856" y="16184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986016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KU-wide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986016" y="2377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5,000 staff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Center of Excellence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Research tie-up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763256" y="3154680"/>
            <a:ext cx="182880" cy="182880"/>
          </a:xfrm>
          <a:prstGeom prst="ellipse">
            <a:avLst/>
          </a:prstGeom>
          <a:solidFill>
            <a:srgbClr val="004D2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💰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18872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งบประมาณ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18872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59436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Phase 2 — วิทยากร + workshop + infra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4612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328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397764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บุคลากรเฉพาะทาง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97764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8328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/ n8n specialist เต็มเวลา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035040" y="3520440"/>
            <a:ext cx="2651760" cy="868680"/>
          </a:xfrm>
          <a:prstGeom prst="rect">
            <a:avLst/>
          </a:prstGeom>
          <a:solidFill>
            <a:srgbClr val="FAF6EE"/>
          </a:solidFill>
          <a:ln w="6350">
            <a:solidFill>
              <a:srgbClr val="C9A9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6766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ระยะเวลา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76656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เดือน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6172200" y="4178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Foundation → KU-wide rollout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004D26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" y="4526280"/>
            <a:ext cx="137160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4" name="Text 52"/>
          <p:cNvSpPr/>
          <p:nvPr/>
        </p:nvSpPr>
        <p:spPr>
          <a:xfrm>
            <a:off x="731520" y="45262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ขออนุมัติ </a:t>
            </a:r>
            <a:pPr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Phase 2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— </a:t>
            </a:r>
            <a:pPr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ภายใน Q2 / 2569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850392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สำหรับองค์กร — มหาวิทยาลัยเกษตรศาสตร์</dc:title>
  <dc:subject>PptxGenJS Presentation</dc:subject>
  <dc:creator>สำนักบริการคอมพิวเตอร์ × ฝ่ายเทคโนโลยีดิจิทัลและปัญญาประดิษฐ์</dc:creator>
  <cp:lastModifiedBy>สำนักบริการคอมพิวเตอร์ × ฝ่ายเทคโนโลยีดิจิทัลและปัญญาประดิษฐ์</cp:lastModifiedBy>
  <cp:revision>1</cp:revision>
  <dcterms:created xsi:type="dcterms:W3CDTF">2026-05-25T22:56:04Z</dcterms:created>
  <dcterms:modified xsi:type="dcterms:W3CDTF">2026-05-25T22:56:04Z</dcterms:modified>
</cp:coreProperties>
</file>