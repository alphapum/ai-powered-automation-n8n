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4D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สำหรับองค์กร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ทิศทางการนำ AI มาใช้ใน มหาวิทยาลัยเกษตรศาสตร์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1828800" cy="457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0" y="9144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0" b="1" i="1" dirty="0">
                <a:solidFill>
                  <a:srgbClr val="006633">
                    <a:alpha val="3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5,000+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594360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i="1" dirty="0">
                <a:solidFill>
                  <a:srgbClr val="C9A961">
                    <a:alpha val="70000"/>
                  </a:srgbClr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บุคลากร มก. ที่สามารถใช้ AI ได้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3383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ภาพรวมโครงสร้างพื้นฐาน AI, โอกาส, และ Roadmap 18 เดือน
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C9A9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สำหรับผู้บริหารระดับสูงของมหาวิทยาลัยเกษตรศาสตร์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0663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754880"/>
            <a:ext cx="78638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สำนักบริการคอมพิวเตอร์  ×  ฝ่ายเทคโนโลยีดิจิทัลและปัญญาประดิษฐ์   |   พฤษภาคม 2569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ทำไม มก. ต้องลงทุน AI ตั้งแต่วันนี้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Why now — 3 มุมมองที่ผู้บริหาร มก. ควรพิจารณา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51760" cy="2743200"/>
          </a:xfrm>
          <a:prstGeom prst="rect">
            <a:avLst/>
          </a:prstGeom>
          <a:solidFill>
            <a:srgbClr val="F8F9F7"/>
          </a:solidFill>
          <a:ln w="6350">
            <a:solidFill>
              <a:srgbClr val="2E8B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2651760" cy="109728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1691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i="1" dirty="0">
                <a:solidFill>
                  <a:srgbClr val="2E8B57">
                    <a:alpha val="4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85800" y="1783080"/>
            <a:ext cx="640080" cy="64008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🌍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85800" y="2514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แนวโน้มโลก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85800" y="29260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กระทบทุกอุตสาหกรรม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มหาวิทยาลัยที่ไม่ปรับตัว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จะเสียความสามารถ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ในการแข่งขัน 5 ปีข้างหน้า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566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ของงาน admin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จะเปลี่ยนรูปแบบ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463040"/>
            <a:ext cx="2651760" cy="2743200"/>
          </a:xfrm>
          <a:prstGeom prst="rect">
            <a:avLst/>
          </a:prstGeom>
          <a:solidFill>
            <a:srgbClr val="F8F9F7"/>
          </a:solidFill>
          <a:ln w="6350">
            <a:solidFill>
              <a:srgbClr val="C9A96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1463040"/>
            <a:ext cx="2651760" cy="109728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0" y="1691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i="1" dirty="0">
                <a:solidFill>
                  <a:srgbClr val="C9A961">
                    <a:alpha val="4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200" dirty="0"/>
          </a:p>
        </p:txBody>
      </p:sp>
      <p:sp>
        <p:nvSpPr>
          <p:cNvPr id="16" name="Shape 14"/>
          <p:cNvSpPr/>
          <p:nvPr/>
        </p:nvSpPr>
        <p:spPr>
          <a:xfrm>
            <a:off x="3429000" y="1783080"/>
            <a:ext cx="640080" cy="640080"/>
          </a:xfrm>
          <a:prstGeom prst="ellipse">
            <a:avLst/>
          </a:prstGeom>
          <a:solidFill>
            <a:srgbClr val="C9A961"/>
          </a:solidFill>
          <a:ln/>
        </p:spPr>
      </p:sp>
      <p:sp>
        <p:nvSpPr>
          <p:cNvPr id="17" name="Text 15"/>
          <p:cNvSpPr/>
          <p:nvPr/>
        </p:nvSpPr>
        <p:spPr>
          <a:xfrm>
            <a:off x="342900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🏛️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3429000" y="2514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ม.รัฐในไทย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3429000" y="29260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จุฬาฯ + มหิดล + ม.รังสิต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ลงทุน AI Center,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LLM ของตัวเอง,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และ workflow automation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429000" y="3566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3429000" y="3931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มหาวิทยาลัยคู่แข่ง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ลงทุนแล้ว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43600" y="1463040"/>
            <a:ext cx="2651760" cy="2743200"/>
          </a:xfrm>
          <a:prstGeom prst="rect">
            <a:avLst/>
          </a:prstGeom>
          <a:solidFill>
            <a:srgbClr val="F8F9F7"/>
          </a:solidFill>
          <a:ln w="6350">
            <a:solidFill>
              <a:srgbClr val="0066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1463040"/>
            <a:ext cx="2651760" cy="109728"/>
          </a:xfrm>
          <a:prstGeom prst="rect">
            <a:avLst/>
          </a:prstGeom>
          <a:solidFill>
            <a:srgbClr val="006633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0" y="1691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i="1" dirty="0">
                <a:solidFill>
                  <a:srgbClr val="006633">
                    <a:alpha val="4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6172200" y="1783080"/>
            <a:ext cx="640080" cy="640080"/>
          </a:xfrm>
          <a:prstGeom prst="ellipse">
            <a:avLst/>
          </a:prstGeom>
          <a:solidFill>
            <a:srgbClr val="006633"/>
          </a:solidFill>
          <a:ln/>
        </p:spPr>
      </p:sp>
      <p:sp>
        <p:nvSpPr>
          <p:cNvPr id="26" name="Text 24"/>
          <p:cNvSpPr/>
          <p:nvPr/>
        </p:nvSpPr>
        <p:spPr>
          <a:xfrm>
            <a:off x="617220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⏰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6172200" y="2514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โอกาสของ มก.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172200" y="29260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ประหยัด ~200 ชม./ปี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ต่อบุคลากร 1 คน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×  5,000 คน เป้าหมาย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172200" y="3566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1M+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6172200" y="3931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ชั่วโมง/ปี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ที่ประหยัดได้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34840"/>
            <a:ext cx="8229600" cy="548640"/>
          </a:xfrm>
          <a:prstGeom prst="rect">
            <a:avLst/>
          </a:prstGeom>
          <a:solidFill>
            <a:srgbClr val="004D26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434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9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การไม่ทำ </a:t>
            </a:r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= </a:t>
            </a:r>
            <a:pPr algn="ctr" indent="0" marL="0">
              <a:buNone/>
            </a:pPr>
            <a:r>
              <a:rPr lang="en-US" sz="2000" b="1" dirty="0">
                <a:solidFill>
                  <a:srgbClr val="C9A9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การถอยหลัง</a:t>
            </a:r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 —  ในขณะที่คู่แข่งเดินไปข้างหน้า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850392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เรามีของพร้อมแล้ว — ไม่ต้องเริ่มจาก 0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KU AI Stack — โครงสร้างพื้นฐานที่มหาวิทยาลัยลงทุนไว้แล้ว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303520" cy="548640"/>
          </a:xfrm>
          <a:prstGeom prst="rect">
            <a:avLst/>
          </a:prstGeom>
          <a:solidFill>
            <a:srgbClr val="E8F5E9"/>
          </a:solidFill>
          <a:ln w="6350">
            <a:solidFill>
              <a:srgbClr val="004D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137160" cy="548640"/>
          </a:xfrm>
          <a:prstGeom prst="rect">
            <a:avLst/>
          </a:prstGeom>
          <a:solidFill>
            <a:srgbClr val="004D26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50876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04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ผู้ใช้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" y="1664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บุคลากร มก.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182880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119 คน trained  →  5,000 คน เป้าหมาย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5303520" cy="548640"/>
          </a:xfrm>
          <a:prstGeom prst="rect">
            <a:avLst/>
          </a:prstGeom>
          <a:solidFill>
            <a:srgbClr val="E8F5E9"/>
          </a:solidFill>
          <a:ln w="6350">
            <a:solidFill>
              <a:srgbClr val="0066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057400"/>
            <a:ext cx="137160" cy="548640"/>
          </a:xfrm>
          <a:prstGeom prst="rect">
            <a:avLst/>
          </a:prstGeom>
          <a:solidFill>
            <a:srgbClr val="006633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1031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22585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Workflows สำเร็จรูป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" y="242316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Forms→LINE  |  Gmail→Drive  |  Sheets+AI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5303520" cy="548640"/>
          </a:xfrm>
          <a:prstGeom prst="rect">
            <a:avLst/>
          </a:prstGeom>
          <a:solidFill>
            <a:srgbClr val="E8F5E9"/>
          </a:solidFill>
          <a:ln w="6350">
            <a:solidFill>
              <a:srgbClr val="2E8B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651760"/>
            <a:ext cx="137160" cy="54864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6974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85800" y="28529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n8n (workflow.ku.ac.th)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" y="301752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Visual automation engine • ไม่ต้องเขียน code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246120"/>
            <a:ext cx="5303520" cy="548640"/>
          </a:xfrm>
          <a:prstGeom prst="rect">
            <a:avLst/>
          </a:prstGeom>
          <a:solidFill>
            <a:srgbClr val="F5EDD6"/>
          </a:solidFill>
          <a:ln w="6350">
            <a:solidFill>
              <a:srgbClr val="C9A96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3246120"/>
            <a:ext cx="137160" cy="54864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2918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Brain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85800" y="34472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KU LLM Gateway (apigw.ku.ac.th)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5800" y="361188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Mistral-7B (chat) + BGE-M3 (embeddings)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840480"/>
            <a:ext cx="5303520" cy="548640"/>
          </a:xfrm>
          <a:prstGeom prst="rect">
            <a:avLst/>
          </a:prstGeom>
          <a:solidFill>
            <a:srgbClr val="E8F5E9"/>
          </a:solidFill>
          <a:ln w="6350">
            <a:solidFill>
              <a:srgbClr val="0066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840480"/>
            <a:ext cx="137160" cy="548640"/>
          </a:xfrm>
          <a:prstGeom prst="rect">
            <a:avLst/>
          </a:prstGeom>
          <a:solidFill>
            <a:srgbClr val="006633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88620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85800" y="40416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Google Workspace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85800" y="420624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Forms • Sheets • Gmail • Drive (KU domain)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4434840"/>
            <a:ext cx="5303520" cy="548640"/>
          </a:xfrm>
          <a:prstGeom prst="rect">
            <a:avLst/>
          </a:prstGeom>
          <a:solidFill>
            <a:srgbClr val="F8F9F7"/>
          </a:solidFill>
          <a:ln w="6350">
            <a:solidFill>
              <a:srgbClr val="4A4A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4434840"/>
            <a:ext cx="137160" cy="548640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448056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85800" y="46360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KU Cloud + Network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85800" y="480060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Data center มก. • Network backbone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035040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จุดเด่นของโครงสร้างนี้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6035040" y="1920240"/>
            <a:ext cx="411480" cy="411480"/>
          </a:xfrm>
          <a:prstGeom prst="ellipse">
            <a:avLst/>
          </a:prstGeom>
          <a:solidFill>
            <a:srgbClr val="006633"/>
          </a:solidFill>
          <a:ln/>
        </p:spPr>
      </p:sp>
      <p:sp>
        <p:nvSpPr>
          <p:cNvPr id="36" name="Text 34"/>
          <p:cNvSpPr/>
          <p:nvPr/>
        </p:nvSpPr>
        <p:spPr>
          <a:xfrm>
            <a:off x="603504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6537960" y="190195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ฟรี!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537960" y="216712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ใช้ของ มก. ทั้งหมด — ไม่ต้องเสียค่า OpenAI/Anthropic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035040" y="2606040"/>
            <a:ext cx="411480" cy="411480"/>
          </a:xfrm>
          <a:prstGeom prst="ellipse">
            <a:avLst/>
          </a:prstGeom>
          <a:solidFill>
            <a:srgbClr val="C9A961"/>
          </a:solidFill>
          <a:ln/>
        </p:spPr>
      </p:sp>
      <p:sp>
        <p:nvSpPr>
          <p:cNvPr id="40" name="Text 38"/>
          <p:cNvSpPr/>
          <p:nvPr/>
        </p:nvSpPr>
        <p:spPr>
          <a:xfrm>
            <a:off x="6035040" y="2606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🔒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6537960" y="258775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Privacy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6537960" y="285292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Data ทั้งหมดอยู่ใน มก. — ไม่ส่งออกนอกองค์กร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035040" y="3291840"/>
            <a:ext cx="411480" cy="41148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44" name="Text 42"/>
          <p:cNvSpPr/>
          <p:nvPr/>
        </p:nvSpPr>
        <p:spPr>
          <a:xfrm>
            <a:off x="6035040" y="3291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⚡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6537960" y="327355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เร็ว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6537960" y="353872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Network ภายใน มก. — latency ต่ำ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035040" y="3977640"/>
            <a:ext cx="411480" cy="411480"/>
          </a:xfrm>
          <a:prstGeom prst="ellipse">
            <a:avLst/>
          </a:prstGeom>
          <a:solidFill>
            <a:srgbClr val="004D26"/>
          </a:solidFill>
          <a:ln/>
        </p:spPr>
      </p:sp>
      <p:sp>
        <p:nvSpPr>
          <p:cNvPr id="48" name="Text 46"/>
          <p:cNvSpPr/>
          <p:nvPr/>
        </p:nvSpPr>
        <p:spPr>
          <a:xfrm>
            <a:off x="6035040" y="3977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🎓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6537960" y="395935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เหมาะกับการศึกษา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6537960" y="422452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ปรับ + ขยายตามความต้องการอาจารย์/บุคลากร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50392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สถาปัตยกรรม AI Agent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User สั่งงาน → Agent ใช้ Tools/Database + LLM → ทำ Action → Feedback Loop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794760" y="1097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👥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343400" y="11887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User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023360" y="1645920"/>
            <a:ext cx="0" cy="27432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206240" y="1645920"/>
            <a:ext cx="0" cy="27432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1371600" y="1691640"/>
            <a:ext cx="6400800" cy="2697480"/>
          </a:xfrm>
          <a:prstGeom prst="rect">
            <a:avLst/>
          </a:prstGeom>
          <a:solidFill>
            <a:srgbClr val="F8F9F7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49040" y="1783080"/>
            <a:ext cx="731520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66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0" y="1874520"/>
            <a:ext cx="548640" cy="457200"/>
          </a:xfrm>
          <a:prstGeom prst="rect">
            <a:avLst/>
          </a:prstGeom>
          <a:solidFill>
            <a:srgbClr val="E8F5E9"/>
          </a:solidFill>
          <a:ln w="6350">
            <a:solidFill>
              <a:srgbClr val="0066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75888" y="1920240"/>
            <a:ext cx="73152" cy="0"/>
          </a:xfrm>
          <a:prstGeom prst="line">
            <a:avLst/>
          </a:prstGeom>
          <a:noFill/>
          <a:ln w="19050">
            <a:solidFill>
              <a:srgbClr val="0066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80560" y="1920240"/>
            <a:ext cx="73152" cy="0"/>
          </a:xfrm>
          <a:prstGeom prst="line">
            <a:avLst/>
          </a:prstGeom>
          <a:noFill/>
          <a:ln w="19050">
            <a:solidFill>
              <a:srgbClr val="0066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75888" y="2103120"/>
            <a:ext cx="73152" cy="0"/>
          </a:xfrm>
          <a:prstGeom prst="line">
            <a:avLst/>
          </a:prstGeom>
          <a:noFill/>
          <a:ln w="19050">
            <a:solidFill>
              <a:srgbClr val="0066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80560" y="2103120"/>
            <a:ext cx="73152" cy="0"/>
          </a:xfrm>
          <a:prstGeom prst="line">
            <a:avLst/>
          </a:prstGeom>
          <a:noFill/>
          <a:ln w="19050">
            <a:solidFill>
              <a:srgbClr val="0066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75888" y="2286000"/>
            <a:ext cx="73152" cy="0"/>
          </a:xfrm>
          <a:prstGeom prst="line">
            <a:avLst/>
          </a:prstGeom>
          <a:noFill/>
          <a:ln w="19050">
            <a:solidFill>
              <a:srgbClr val="0066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80560" y="2286000"/>
            <a:ext cx="73152" cy="0"/>
          </a:xfrm>
          <a:prstGeom prst="line">
            <a:avLst/>
          </a:prstGeom>
          <a:noFill/>
          <a:ln w="19050">
            <a:solidFill>
              <a:srgbClr val="0066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49040" y="18288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468880" y="19202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Agent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645920" y="2194560"/>
            <a:ext cx="77724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45920" y="2286000"/>
            <a:ext cx="777240" cy="41148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1" name="Shape 19"/>
          <p:cNvSpPr/>
          <p:nvPr/>
        </p:nvSpPr>
        <p:spPr>
          <a:xfrm>
            <a:off x="1645920" y="2606040"/>
            <a:ext cx="777240" cy="182880"/>
          </a:xfrm>
          <a:prstGeom prst="ellipse">
            <a:avLst/>
          </a:prstGeom>
          <a:solidFill>
            <a:srgbClr val="F5EDD6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37360" y="2468880"/>
            <a:ext cx="59436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71600" y="28346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Database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645920" y="3429000"/>
            <a:ext cx="777240" cy="18288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0066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45920" y="3520440"/>
            <a:ext cx="777240" cy="41148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26" name="Shape 24"/>
          <p:cNvSpPr/>
          <p:nvPr/>
        </p:nvSpPr>
        <p:spPr>
          <a:xfrm>
            <a:off x="1645920" y="3840480"/>
            <a:ext cx="777240" cy="182880"/>
          </a:xfrm>
          <a:prstGeom prst="ellipse">
            <a:avLst/>
          </a:prstGeom>
          <a:solidFill>
            <a:srgbClr val="E8F5E9"/>
          </a:solidFill>
          <a:ln w="12700">
            <a:solidFill>
              <a:srgbClr val="0066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83080" y="3685032"/>
            <a:ext cx="36576" cy="3657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1783080" y="3794760"/>
            <a:ext cx="36576" cy="3657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1901952" y="3685032"/>
            <a:ext cx="36576" cy="3657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1901952" y="3794760"/>
            <a:ext cx="36576" cy="3657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2020824" y="3685032"/>
            <a:ext cx="36576" cy="3657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2020824" y="3794760"/>
            <a:ext cx="36576" cy="3657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2139696" y="3685032"/>
            <a:ext cx="36576" cy="3657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2139696" y="3794760"/>
            <a:ext cx="36576" cy="3657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1280160" y="406908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Vector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Database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069080" y="2926080"/>
            <a:ext cx="822960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66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69080" y="292608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🧠</a:t>
            </a:r>
            <a:endParaRPr lang="en-US" sz="3200" dirty="0"/>
          </a:p>
        </p:txBody>
      </p:sp>
      <p:sp>
        <p:nvSpPr>
          <p:cNvPr id="38" name="Text 36"/>
          <p:cNvSpPr/>
          <p:nvPr/>
        </p:nvSpPr>
        <p:spPr>
          <a:xfrm>
            <a:off x="3611880" y="3749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LLM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126480" y="2926080"/>
            <a:ext cx="822960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B83D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26480" y="292608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⚙️</a:t>
            </a:r>
            <a:endParaRPr lang="en-US" sz="3200" dirty="0"/>
          </a:p>
        </p:txBody>
      </p:sp>
      <p:sp>
        <p:nvSpPr>
          <p:cNvPr id="41" name="Text 39"/>
          <p:cNvSpPr/>
          <p:nvPr/>
        </p:nvSpPr>
        <p:spPr>
          <a:xfrm>
            <a:off x="5669280" y="3749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Action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468880" y="2423160"/>
            <a:ext cx="1234440" cy="-27432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2468880" y="2606040"/>
            <a:ext cx="1234440" cy="-32004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  <a:headEnd type="triangle"/>
          </a:ln>
        </p:spPr>
      </p:sp>
      <p:sp>
        <p:nvSpPr>
          <p:cNvPr id="44" name="Shape 42"/>
          <p:cNvSpPr/>
          <p:nvPr/>
        </p:nvSpPr>
        <p:spPr>
          <a:xfrm flipV="1">
            <a:off x="2468880" y="3657600"/>
            <a:ext cx="1234440" cy="-150876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V="1">
            <a:off x="2468880" y="3840480"/>
            <a:ext cx="1234440" cy="-150876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  <a:headEnd type="triangle"/>
          </a:ln>
        </p:spPr>
      </p:sp>
      <p:sp>
        <p:nvSpPr>
          <p:cNvPr id="46" name="Shape 44"/>
          <p:cNvSpPr/>
          <p:nvPr/>
        </p:nvSpPr>
        <p:spPr>
          <a:xfrm>
            <a:off x="4114800" y="2468880"/>
            <a:ext cx="0" cy="41148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4937760" y="3314700"/>
            <a:ext cx="114300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4069080" y="4160520"/>
            <a:ext cx="822960" cy="457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66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069080" y="41605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4983480" y="4251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Feedback Loop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3703320" y="4663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0B0"/>
                </a:solidFill>
              </a:rPr>
              <a:t>↻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4800600" y="4663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0B0"/>
                </a:solidFill>
              </a:rPr>
              <a:t>↺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7955280" y="1783080"/>
            <a:ext cx="1097280" cy="2606040"/>
          </a:xfrm>
          <a:prstGeom prst="rect">
            <a:avLst/>
          </a:prstGeom>
          <a:solidFill>
            <a:srgbClr val="E8F5E9"/>
          </a:solidFill>
          <a:ln w="6350">
            <a:solidFill>
              <a:srgbClr val="0066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955280" y="18745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ตัวอย่าง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ใน มก.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001000" y="242316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8001000" y="25603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นิสิต/อาจารย์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001000" y="278892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8001000" y="29260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KU LLM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8001000" y="315468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8001000" y="329184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ทะเบียน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8001000" y="35204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8001000" y="365760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BGE-M3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8001000" y="388620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8001000" y="402336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ตอบ / Email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solidFill>
            <a:srgbClr val="004D26"/>
          </a:solidFill>
          <a:ln/>
        </p:spPr>
      </p:sp>
      <p:sp>
        <p:nvSpPr>
          <p:cNvPr id="66" name="Shape 64"/>
          <p:cNvSpPr/>
          <p:nvPr/>
        </p:nvSpPr>
        <p:spPr>
          <a:xfrm>
            <a:off x="457200" y="4663440"/>
            <a:ext cx="109728" cy="36576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67" name="Text 65"/>
          <p:cNvSpPr/>
          <p:nvPr/>
        </p:nvSpPr>
        <p:spPr>
          <a:xfrm>
            <a:off x="685800" y="4663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Use case มก. :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ผู้ช่วยอาจารย์ตอบคำถามนิสิต 24/7  —  ค้นจาก KU LLM + Vector DB (course materials) + ระบบทะเบียน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850392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สถาปัตยกรรม Agentic AI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Multi-Agent System  —  ทีม AI ที่ทำงานร่วมกัน (เหมาะกับงานซับซ้อน เช่น วิจัย วิเคราะห์ ตัดสินใจ)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029200" cy="3291840"/>
          </a:xfrm>
          <a:prstGeom prst="rect">
            <a:avLst/>
          </a:prstGeom>
          <a:solidFill>
            <a:srgbClr val="F8F9F7"/>
          </a:solidFill>
          <a:ln/>
        </p:spPr>
      </p:sp>
      <p:sp>
        <p:nvSpPr>
          <p:cNvPr id="5" name="Shape 3"/>
          <p:cNvSpPr/>
          <p:nvPr/>
        </p:nvSpPr>
        <p:spPr>
          <a:xfrm>
            <a:off x="1691640" y="1600200"/>
            <a:ext cx="2560320" cy="640080"/>
          </a:xfrm>
          <a:prstGeom prst="rect">
            <a:avLst/>
          </a:prstGeom>
          <a:solidFill>
            <a:srgbClr val="004D26"/>
          </a:solidFill>
          <a:ln w="25400">
            <a:solidFill>
              <a:srgbClr val="0066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7830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🎭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286000" y="16459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286000" y="19202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EDD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แบ่งงาน + รวบรวมผล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flipH="1">
            <a:off x="2971800" y="2240280"/>
            <a:ext cx="-1783080" cy="548640"/>
          </a:xfrm>
          <a:prstGeom prst="line">
            <a:avLst/>
          </a:prstGeom>
          <a:noFill/>
          <a:ln w="12700">
            <a:solidFill>
              <a:srgbClr val="006633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49224" y="2788920"/>
            <a:ext cx="1078992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A9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" y="2788920"/>
            <a:ext cx="1078992" cy="731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" y="2926080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9224" y="329184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Researcher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9224" y="3502152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ค้นหา / รวบรวม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2971800" y="2240280"/>
            <a:ext cx="-594360" cy="548640"/>
          </a:xfrm>
          <a:prstGeom prst="line">
            <a:avLst/>
          </a:prstGeom>
          <a:noFill/>
          <a:ln w="12700">
            <a:solidFill>
              <a:srgbClr val="006633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837944" y="2788920"/>
            <a:ext cx="1078992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37944" y="2788920"/>
            <a:ext cx="1078992" cy="73152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8" name="Text 16"/>
          <p:cNvSpPr/>
          <p:nvPr/>
        </p:nvSpPr>
        <p:spPr>
          <a:xfrm>
            <a:off x="1837944" y="2926080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837944" y="329184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Analyzer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837944" y="3502152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วิเคราะห์ข้อมูล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971800" y="2240280"/>
            <a:ext cx="594360" cy="548640"/>
          </a:xfrm>
          <a:prstGeom prst="line">
            <a:avLst/>
          </a:prstGeom>
          <a:noFill/>
          <a:ln w="12700">
            <a:solidFill>
              <a:srgbClr val="006633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026664" y="2788920"/>
            <a:ext cx="1078992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26664" y="2788920"/>
            <a:ext cx="1078992" cy="73152"/>
          </a:xfrm>
          <a:prstGeom prst="rect">
            <a:avLst/>
          </a:prstGeom>
          <a:solidFill>
            <a:srgbClr val="006633"/>
          </a:solidFill>
          <a:ln/>
        </p:spPr>
      </p:sp>
      <p:sp>
        <p:nvSpPr>
          <p:cNvPr id="24" name="Text 22"/>
          <p:cNvSpPr/>
          <p:nvPr/>
        </p:nvSpPr>
        <p:spPr>
          <a:xfrm>
            <a:off x="3026664" y="2926080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✍️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3026664" y="329184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Writer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26664" y="3502152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ร่างเนื้อหา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71800" y="2240280"/>
            <a:ext cx="1783080" cy="548640"/>
          </a:xfrm>
          <a:prstGeom prst="line">
            <a:avLst/>
          </a:prstGeom>
          <a:noFill/>
          <a:ln w="12700">
            <a:solidFill>
              <a:srgbClr val="006633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4215384" y="2788920"/>
            <a:ext cx="1078992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B83D3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15384" y="2788920"/>
            <a:ext cx="1078992" cy="73152"/>
          </a:xfrm>
          <a:prstGeom prst="rect">
            <a:avLst/>
          </a:prstGeom>
          <a:solidFill>
            <a:srgbClr val="B83D3D"/>
          </a:solidFill>
          <a:ln/>
        </p:spPr>
      </p:sp>
      <p:sp>
        <p:nvSpPr>
          <p:cNvPr id="30" name="Text 28"/>
          <p:cNvSpPr/>
          <p:nvPr/>
        </p:nvSpPr>
        <p:spPr>
          <a:xfrm>
            <a:off x="4215384" y="2926080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4215384" y="329184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Reviewer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215384" y="3502152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ตรวจคุณภาพ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691640" y="4023360"/>
            <a:ext cx="2560320" cy="502920"/>
          </a:xfrm>
          <a:prstGeom prst="rect">
            <a:avLst/>
          </a:prstGeom>
          <a:solidFill>
            <a:srgbClr val="C9A961"/>
          </a:solidFill>
          <a:ln w="6350">
            <a:solidFill>
              <a:srgbClr val="F5EDD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83080" y="40690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2194560" y="4023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Human-in-the-Loop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2194560" y="42702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คนตรวจ + อนุมัติ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971800" y="3703320"/>
            <a:ext cx="0" cy="320040"/>
          </a:xfrm>
          <a:prstGeom prst="line">
            <a:avLst/>
          </a:prstGeom>
          <a:noFill/>
          <a:ln w="19050">
            <a:solidFill>
              <a:srgbClr val="0066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23560" y="14173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Agent vs Agentic AI — เมื่อไรใช้อะไร?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5623560" y="1783080"/>
            <a:ext cx="3063240" cy="274320"/>
          </a:xfrm>
          <a:prstGeom prst="rect">
            <a:avLst/>
          </a:prstGeom>
          <a:solidFill>
            <a:srgbClr val="006633"/>
          </a:solidFill>
          <a:ln/>
        </p:spPr>
      </p:sp>
      <p:sp>
        <p:nvSpPr>
          <p:cNvPr id="40" name="Text 38"/>
          <p:cNvSpPr/>
          <p:nvPr/>
        </p:nvSpPr>
        <p:spPr>
          <a:xfrm>
            <a:off x="5623560" y="1783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446520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452360" y="17830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Agentic AI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23560" y="2057400"/>
            <a:ext cx="3063240" cy="292608"/>
          </a:xfrm>
          <a:prstGeom prst="rect">
            <a:avLst/>
          </a:prstGeom>
          <a:solidFill>
            <a:srgbClr val="F8F9F7"/>
          </a:solidFill>
          <a:ln w="6350">
            <a:solidFill>
              <a:srgbClr val="F8F9F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15000" y="2057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Agents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46520" y="20574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 ตัว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452360" y="205740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หลายตัวเฉพาะทาง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623560" y="2350008"/>
            <a:ext cx="306324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F8F9F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15000" y="23500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446520" y="235000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Q&amp;A, lookup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7452360" y="235000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วิจัย, วิเคราะห์, ตัดสินใจ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623560" y="2642616"/>
            <a:ext cx="3063240" cy="292608"/>
          </a:xfrm>
          <a:prstGeom prst="rect">
            <a:avLst/>
          </a:prstGeom>
          <a:solidFill>
            <a:srgbClr val="F8F9F7"/>
          </a:solidFill>
          <a:ln w="6350">
            <a:solidFill>
              <a:srgbClr val="F8F9F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15000" y="264261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ความซับซ้อน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446520" y="264261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ต่ำ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452360" y="264261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สูง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623560" y="2935224"/>
            <a:ext cx="306324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F8F9F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15000" y="29352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ความเชื่อถือ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446520" y="29352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เร็ว แต่ผิดได้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452360" y="293522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ตรวจซ้อนกัน เชื่อถือสูง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623560" y="3337560"/>
            <a:ext cx="3063240" cy="1280160"/>
          </a:xfrm>
          <a:prstGeom prst="rect">
            <a:avLst/>
          </a:prstGeom>
          <a:solidFill>
            <a:srgbClr val="F5EDD6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0720" y="342900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ตัวอย่างใน มก.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5760720" y="36576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ระบบช่วยร่างข้อเสนอวิจัย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5760720" y="393192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9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Researcher </a:t>
            </a:r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ค้นวรรณกรรม</a:t>
            </a:r>
            <a:pPr indent="0" marL="0">
              <a:buNone/>
            </a:pPr>
            <a:r>
              <a:rPr lang="en-US" sz="1000" b="1" dirty="0">
                <a:solidFill>
                  <a:srgbClr val="2E8B57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 →  Analyzer 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760720" y="397764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Researcher → Analyzer → Writer → Reviewer → คนยืนยัน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5760720" y="42519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ลดเวลาทำ research review จาก 2 สัปดาห์  →  1 วัน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457200" y="4617720"/>
            <a:ext cx="8229600" cy="411480"/>
          </a:xfrm>
          <a:prstGeom prst="rect">
            <a:avLst/>
          </a:prstGeom>
          <a:solidFill>
            <a:srgbClr val="004D26"/>
          </a:solidFill>
          <a:ln/>
        </p:spPr>
      </p:sp>
      <p:sp>
        <p:nvSpPr>
          <p:cNvPr id="66" name="Shape 64"/>
          <p:cNvSpPr/>
          <p:nvPr/>
        </p:nvSpPr>
        <p:spPr>
          <a:xfrm>
            <a:off x="457200" y="4617720"/>
            <a:ext cx="109728" cy="41148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67" name="Text 65"/>
          <p:cNvSpPr/>
          <p:nvPr/>
        </p:nvSpPr>
        <p:spPr>
          <a:xfrm>
            <a:off x="685800" y="4617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Roadmap: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Foundation = AI Agents เดี่ยว (workflow.ku.ac.th)  →  </a:t>
            </a:r>
            <a:pPr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Applied = Agentic systems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 (KU LLM + n8n + multi-agent orchestration)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850392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07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ทำได้แล้ววันนี้ — 5 Pattern ที่ขยายต่อได้ทันที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Quick Wins — Use cases ที่บุคลากร 119 คน ทดสอบแล้วใน Foundation Workshop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164592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0066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371600"/>
            <a:ext cx="1645920" cy="109728"/>
          </a:xfrm>
          <a:prstGeom prst="rect">
            <a:avLst/>
          </a:prstGeom>
          <a:solidFill>
            <a:srgbClr val="006633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1554480"/>
            <a:ext cx="320040" cy="320040"/>
          </a:xfrm>
          <a:prstGeom prst="ellipse">
            <a:avLst/>
          </a:prstGeom>
          <a:solidFill>
            <a:srgbClr val="006633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6002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คำร้องนิสิต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20116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→ LINE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22860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นิสิตยื่นคำร้อง → แจ้งเจ้าหน้าที่ทันทีใน LINE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ลด lag time จาก 2 วัน → 5 วินาที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154680"/>
            <a:ext cx="1371600" cy="0"/>
          </a:xfrm>
          <a:prstGeom prst="line">
            <a:avLst/>
          </a:prstGeom>
          <a:noFill/>
          <a:ln w="6350">
            <a:solidFill>
              <a:srgbClr val="00663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02920" y="3200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02920" y="358444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ชม./ปี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057400" y="1371600"/>
            <a:ext cx="164592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C9A96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057400" y="1371600"/>
            <a:ext cx="1645920" cy="109728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6" name="Shape 14"/>
          <p:cNvSpPr/>
          <p:nvPr/>
        </p:nvSpPr>
        <p:spPr>
          <a:xfrm>
            <a:off x="3246120" y="1554480"/>
            <a:ext cx="320040" cy="320040"/>
          </a:xfrm>
          <a:prstGeom prst="ellipse">
            <a:avLst/>
          </a:prstGeom>
          <a:solidFill>
            <a:srgbClr val="C9A961"/>
          </a:solidFill>
          <a:ln/>
        </p:spPr>
      </p:sp>
      <p:sp>
        <p:nvSpPr>
          <p:cNvPr id="17" name="Text 15"/>
          <p:cNvSpPr/>
          <p:nvPr/>
        </p:nvSpPr>
        <p:spPr>
          <a:xfrm>
            <a:off x="3246120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194560" y="16002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รวบรวมเอกสาร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2194560" y="20116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→ Drive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194560" y="22860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ใบเสร็จ/รายงานที่เข้ามาทาง email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จัดเก็บอัตโนมัติใน Drive โฟลเดอร์ที่กำหนด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194560" y="3154680"/>
            <a:ext cx="1371600" cy="0"/>
          </a:xfrm>
          <a:prstGeom prst="line">
            <a:avLst/>
          </a:prstGeom>
          <a:noFill/>
          <a:ln w="6350">
            <a:solidFill>
              <a:srgbClr val="C9A961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2194560" y="3200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2194560" y="358444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ชม./ปี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749040" y="1371600"/>
            <a:ext cx="164592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2E8B57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749040" y="1371600"/>
            <a:ext cx="1645920" cy="109728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26" name="Shape 24"/>
          <p:cNvSpPr/>
          <p:nvPr/>
        </p:nvSpPr>
        <p:spPr>
          <a:xfrm>
            <a:off x="4937760" y="1554480"/>
            <a:ext cx="320040" cy="32004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886200" y="16002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อวยพรอัตโนมัติ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3886200" y="20116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→ LINE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886200" y="22860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ส่งข้อความวันเกิด/วันสำคัญ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ให้บุคลากรในหน่วยงานทุกเช้า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886200" y="3154680"/>
            <a:ext cx="1371600" cy="0"/>
          </a:xfrm>
          <a:prstGeom prst="line">
            <a:avLst/>
          </a:prstGeom>
          <a:noFill/>
          <a:ln w="6350">
            <a:solidFill>
              <a:srgbClr val="2E8B57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886200" y="3200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3886200" y="358444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ชม./ปี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40680" y="1371600"/>
            <a:ext cx="164592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004D2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40680" y="1371600"/>
            <a:ext cx="1645920" cy="109728"/>
          </a:xfrm>
          <a:prstGeom prst="rect">
            <a:avLst/>
          </a:prstGeom>
          <a:solidFill>
            <a:srgbClr val="004D26"/>
          </a:solidFill>
          <a:ln/>
        </p:spPr>
      </p:sp>
      <p:sp>
        <p:nvSpPr>
          <p:cNvPr id="36" name="Shape 34"/>
          <p:cNvSpPr/>
          <p:nvPr/>
        </p:nvSpPr>
        <p:spPr>
          <a:xfrm>
            <a:off x="6629400" y="1554480"/>
            <a:ext cx="320040" cy="320040"/>
          </a:xfrm>
          <a:prstGeom prst="ellipse">
            <a:avLst/>
          </a:prstGeom>
          <a:solidFill>
            <a:srgbClr val="004D26"/>
          </a:solidFill>
          <a:ln/>
        </p:spPr>
      </p:sp>
      <p:sp>
        <p:nvSpPr>
          <p:cNvPr id="37" name="Text 35"/>
          <p:cNvSpPr/>
          <p:nvPr/>
        </p:nvSpPr>
        <p:spPr>
          <a:xfrm>
            <a:off x="6629400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577840" y="16002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เฝ้าระวังสต๊อก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5577840" y="20116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04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Sheets → Alert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577840" y="22860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 stock ทุก 6 ชม. → ถ้าต่ำ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แจ้งผู้รับผิดชอบทาง LINE/Email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577840" y="3154680"/>
            <a:ext cx="1371600" cy="0"/>
          </a:xfrm>
          <a:prstGeom prst="line">
            <a:avLst/>
          </a:prstGeom>
          <a:noFill/>
          <a:ln w="6350">
            <a:solidFill>
              <a:srgbClr val="004D26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5577840" y="3200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4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5577840" y="358444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stockout/ปี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132320" y="1371600"/>
            <a:ext cx="164592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B83D3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7132320" y="1371600"/>
            <a:ext cx="1645920" cy="109728"/>
          </a:xfrm>
          <a:prstGeom prst="rect">
            <a:avLst/>
          </a:prstGeom>
          <a:solidFill>
            <a:srgbClr val="B83D3D"/>
          </a:solidFill>
          <a:ln/>
        </p:spPr>
      </p:sp>
      <p:sp>
        <p:nvSpPr>
          <p:cNvPr id="46" name="Shape 44"/>
          <p:cNvSpPr/>
          <p:nvPr/>
        </p:nvSpPr>
        <p:spPr>
          <a:xfrm>
            <a:off x="8321040" y="1554480"/>
            <a:ext cx="320040" cy="320040"/>
          </a:xfrm>
          <a:prstGeom prst="ellipse">
            <a:avLst/>
          </a:prstGeom>
          <a:solidFill>
            <a:srgbClr val="B83D3D"/>
          </a:solidFill>
          <a:ln/>
        </p:spPr>
      </p:sp>
      <p:sp>
        <p:nvSpPr>
          <p:cNvPr id="47" name="Text 45"/>
          <p:cNvSpPr/>
          <p:nvPr/>
        </p:nvSpPr>
        <p:spPr>
          <a:xfrm>
            <a:off x="8321040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7269480" y="16002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สรุปเอกสาร + AI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7269480" y="20116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Sheets → KU LLM → Email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269480" y="22860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สรุปรายงานเบิกจ่ายรายเดือน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ส่ง executive ทางอีเมล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269480" y="3154680"/>
            <a:ext cx="1371600" cy="0"/>
          </a:xfrm>
          <a:prstGeom prst="line">
            <a:avLst/>
          </a:prstGeom>
          <a:noFill/>
          <a:ln w="6350">
            <a:solidFill>
              <a:srgbClr val="B83D3D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7269480" y="3200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2800" dirty="0"/>
          </a:p>
        </p:txBody>
      </p:sp>
      <p:sp>
        <p:nvSpPr>
          <p:cNvPr id="53" name="Text 51"/>
          <p:cNvSpPr/>
          <p:nvPr/>
        </p:nvSpPr>
        <p:spPr>
          <a:xfrm>
            <a:off x="7269480" y="358444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ชม./ปี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57200" y="4160520"/>
            <a:ext cx="8229600" cy="777240"/>
          </a:xfrm>
          <a:prstGeom prst="rect">
            <a:avLst/>
          </a:prstGeom>
          <a:solidFill>
            <a:srgbClr val="006633"/>
          </a:solidFill>
          <a:ln/>
        </p:spPr>
      </p:sp>
      <p:sp>
        <p:nvSpPr>
          <p:cNvPr id="55" name="Text 53"/>
          <p:cNvSpPr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 Pattern</a:t>
            </a:r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 ×  33 ส่วนงาน  ×  4 วิทยาเขต  =  </a:t>
            </a:r>
            <a:pPr algn="ctr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ROI หลักหมื่นชั่วโมง/ปี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5EDD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 pattern reuse ได้ในงานอื่น — บุคลากรปรับเองได้โดยไม่ต้องเขียน code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850392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07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Roadmap 18 เดือน + งบที่ขอ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จาก Foundation → KU-wide AI organization ภายใน 18 เดือน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3246120"/>
            <a:ext cx="8229600" cy="0"/>
          </a:xfrm>
          <a:prstGeom prst="line">
            <a:avLst/>
          </a:prstGeom>
          <a:noFill/>
          <a:ln w="25400">
            <a:solidFill>
              <a:srgbClr val="0066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2011680" cy="1691640"/>
          </a:xfrm>
          <a:prstGeom prst="rect">
            <a:avLst/>
          </a:prstGeom>
          <a:solidFill>
            <a:srgbClr val="E8F5E9"/>
          </a:solidFill>
          <a:ln w="6350">
            <a:solidFill>
              <a:srgbClr val="2E8B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17320"/>
            <a:ext cx="2011680" cy="109728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61848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/ 2569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00200" y="1618488"/>
            <a:ext cx="731520" cy="256032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9" name="Text 7"/>
          <p:cNvSpPr/>
          <p:nvPr/>
        </p:nvSpPr>
        <p:spPr>
          <a:xfrm>
            <a:off x="1600200" y="161848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94360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Foundation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94360" y="23774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Workshop 2 วัน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บุคลากร 119 คน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 use cases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371600" y="3154680"/>
            <a:ext cx="182880" cy="182880"/>
          </a:xfrm>
          <a:prstGeom prst="ellipse">
            <a:avLst/>
          </a:prstGeom>
          <a:solidFill>
            <a:srgbClr val="2E8B5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87752" y="1417320"/>
            <a:ext cx="2011680" cy="1691640"/>
          </a:xfrm>
          <a:prstGeom prst="rect">
            <a:avLst/>
          </a:prstGeom>
          <a:solidFill>
            <a:srgbClr val="E8F5E9"/>
          </a:solidFill>
          <a:ln w="6350">
            <a:solidFill>
              <a:srgbClr val="0066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87752" y="1417320"/>
            <a:ext cx="2011680" cy="109728"/>
          </a:xfrm>
          <a:prstGeom prst="rect">
            <a:avLst/>
          </a:prstGeom>
          <a:solidFill>
            <a:srgbClr val="006633"/>
          </a:solidFill>
          <a:ln/>
        </p:spPr>
      </p:sp>
      <p:sp>
        <p:nvSpPr>
          <p:cNvPr id="15" name="Text 13"/>
          <p:cNvSpPr/>
          <p:nvPr/>
        </p:nvSpPr>
        <p:spPr>
          <a:xfrm>
            <a:off x="2724912" y="161848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Q2-Q3 / 2569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730752" y="1618488"/>
            <a:ext cx="731520" cy="256032"/>
          </a:xfrm>
          <a:prstGeom prst="rect">
            <a:avLst/>
          </a:prstGeom>
          <a:solidFill>
            <a:srgbClr val="006633"/>
          </a:solidFill>
          <a:ln/>
        </p:spPr>
      </p:sp>
      <p:sp>
        <p:nvSpPr>
          <p:cNvPr id="17" name="Text 15"/>
          <p:cNvSpPr/>
          <p:nvPr/>
        </p:nvSpPr>
        <p:spPr>
          <a:xfrm>
            <a:off x="3730752" y="161848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724912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Applied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724912" y="23774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Power users 50 คน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งานจริงในส่วนงาน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วัด KPI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502152" y="3154680"/>
            <a:ext cx="182880" cy="182880"/>
          </a:xfrm>
          <a:prstGeom prst="ellipse">
            <a:avLst/>
          </a:prstGeom>
          <a:solidFill>
            <a:srgbClr val="00663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18304" y="1417320"/>
            <a:ext cx="2011680" cy="1691640"/>
          </a:xfrm>
          <a:prstGeom prst="rect">
            <a:avLst/>
          </a:prstGeom>
          <a:solidFill>
            <a:srgbClr val="F5EDD6"/>
          </a:solidFill>
          <a:ln w="6350">
            <a:solidFill>
              <a:srgbClr val="C9A96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8304" y="1417320"/>
            <a:ext cx="2011680" cy="109728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3" name="Text 21"/>
          <p:cNvSpPr/>
          <p:nvPr/>
        </p:nvSpPr>
        <p:spPr>
          <a:xfrm>
            <a:off x="4855464" y="161848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/ 2569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861304" y="1618488"/>
            <a:ext cx="731520" cy="25603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5" name="Text 23"/>
          <p:cNvSpPr/>
          <p:nvPr/>
        </p:nvSpPr>
        <p:spPr>
          <a:xfrm>
            <a:off x="5861304" y="161848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855464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Faculty Pilot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855464" y="23774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 ส่วนงาน นำร่อง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 AI champion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ต่อหน่วยงาน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32704" y="3154680"/>
            <a:ext cx="182880" cy="182880"/>
          </a:xfrm>
          <a:prstGeom prst="ellipse">
            <a:avLst/>
          </a:prstGeom>
          <a:solidFill>
            <a:srgbClr val="C9A96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48856" y="1417320"/>
            <a:ext cx="2011680" cy="1691640"/>
          </a:xfrm>
          <a:prstGeom prst="rect">
            <a:avLst/>
          </a:prstGeom>
          <a:solidFill>
            <a:srgbClr val="E8F5E9"/>
          </a:solidFill>
          <a:ln w="6350">
            <a:solidFill>
              <a:srgbClr val="004D2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48856" y="1417320"/>
            <a:ext cx="2011680" cy="109728"/>
          </a:xfrm>
          <a:prstGeom prst="rect">
            <a:avLst/>
          </a:prstGeom>
          <a:solidFill>
            <a:srgbClr val="004D26"/>
          </a:solidFill>
          <a:ln/>
        </p:spPr>
      </p:sp>
      <p:sp>
        <p:nvSpPr>
          <p:cNvPr id="31" name="Text 29"/>
          <p:cNvSpPr/>
          <p:nvPr/>
        </p:nvSpPr>
        <p:spPr>
          <a:xfrm>
            <a:off x="6986016" y="161848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4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2570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91856" y="1618488"/>
            <a:ext cx="731520" cy="256032"/>
          </a:xfrm>
          <a:prstGeom prst="rect">
            <a:avLst/>
          </a:prstGeom>
          <a:solidFill>
            <a:srgbClr val="004D26"/>
          </a:solidFill>
          <a:ln/>
        </p:spPr>
      </p:sp>
      <p:sp>
        <p:nvSpPr>
          <p:cNvPr id="33" name="Text 31"/>
          <p:cNvSpPr/>
          <p:nvPr/>
        </p:nvSpPr>
        <p:spPr>
          <a:xfrm>
            <a:off x="7991856" y="161848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986016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KU-wide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986016" y="23774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5,000 staff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Center of Excellence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Research tie-up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763256" y="3154680"/>
            <a:ext cx="182880" cy="182880"/>
          </a:xfrm>
          <a:prstGeom prst="ellipse">
            <a:avLst/>
          </a:prstGeom>
          <a:solidFill>
            <a:srgbClr val="004D2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" y="3520440"/>
            <a:ext cx="2651760" cy="868680"/>
          </a:xfrm>
          <a:prstGeom prst="rect">
            <a:avLst/>
          </a:prstGeom>
          <a:solidFill>
            <a:srgbClr val="FAF6EE"/>
          </a:solidFill>
          <a:ln w="6350">
            <a:solidFill>
              <a:srgbClr val="C9A96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" y="36118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💰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118872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งบประมาณ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188720" y="38404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594360" y="41788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Phase 2 — วิทยากร + workshop + infra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246120" y="3520440"/>
            <a:ext cx="2651760" cy="868680"/>
          </a:xfrm>
          <a:prstGeom prst="rect">
            <a:avLst/>
          </a:prstGeom>
          <a:solidFill>
            <a:srgbClr val="FAF6EE"/>
          </a:solidFill>
          <a:ln w="6350">
            <a:solidFill>
              <a:srgbClr val="C9A96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383280" y="36118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👥</a:t>
            </a:r>
            <a:endParaRPr lang="en-US" sz="2600" dirty="0"/>
          </a:p>
        </p:txBody>
      </p:sp>
      <p:sp>
        <p:nvSpPr>
          <p:cNvPr id="44" name="Text 42"/>
          <p:cNvSpPr/>
          <p:nvPr/>
        </p:nvSpPr>
        <p:spPr>
          <a:xfrm>
            <a:off x="397764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บุคลากรเฉพาะทาง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977640" y="38404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FTE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3383280" y="41788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/ n8n specialist เต็มเวลา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035040" y="3520440"/>
            <a:ext cx="2651760" cy="868680"/>
          </a:xfrm>
          <a:prstGeom prst="rect">
            <a:avLst/>
          </a:prstGeom>
          <a:solidFill>
            <a:srgbClr val="FAF6EE"/>
          </a:solidFill>
          <a:ln w="6350">
            <a:solidFill>
              <a:srgbClr val="C9A96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72200" y="36118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📅</a:t>
            </a:r>
            <a:endParaRPr lang="en-US" sz="2600" dirty="0"/>
          </a:p>
        </p:txBody>
      </p:sp>
      <p:sp>
        <p:nvSpPr>
          <p:cNvPr id="49" name="Text 47"/>
          <p:cNvSpPr/>
          <p:nvPr/>
        </p:nvSpPr>
        <p:spPr>
          <a:xfrm>
            <a:off x="67665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ระยะเวลา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766560" y="38404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เดือน</a:t>
            </a:r>
            <a:endParaRPr lang="en-US" sz="2200" dirty="0"/>
          </a:p>
        </p:txBody>
      </p:sp>
      <p:sp>
        <p:nvSpPr>
          <p:cNvPr id="51" name="Text 49"/>
          <p:cNvSpPr/>
          <p:nvPr/>
        </p:nvSpPr>
        <p:spPr>
          <a:xfrm>
            <a:off x="6172200" y="41788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Foundation → KU-wide rollout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526280"/>
            <a:ext cx="8229600" cy="502920"/>
          </a:xfrm>
          <a:prstGeom prst="rect">
            <a:avLst/>
          </a:prstGeom>
          <a:solidFill>
            <a:srgbClr val="004D26"/>
          </a:solidFill>
          <a:ln/>
        </p:spPr>
      </p:sp>
      <p:sp>
        <p:nvSpPr>
          <p:cNvPr id="53" name="Shape 51"/>
          <p:cNvSpPr/>
          <p:nvPr/>
        </p:nvSpPr>
        <p:spPr>
          <a:xfrm>
            <a:off x="457200" y="4526280"/>
            <a:ext cx="137160" cy="5029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54" name="Text 52"/>
          <p:cNvSpPr/>
          <p:nvPr/>
        </p:nvSpPr>
        <p:spPr>
          <a:xfrm>
            <a:off x="731520" y="452628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ขออนุมัติ </a:t>
            </a:r>
            <a:pPr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Phase 2</a:t>
            </a:r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— </a:t>
            </a:r>
            <a:pPr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ภายใน Q2 / 2569</a:t>
            </a:r>
            <a:endParaRPr lang="en-US" sz="2200" dirty="0"/>
          </a:p>
        </p:txBody>
      </p:sp>
      <p:sp>
        <p:nvSpPr>
          <p:cNvPr id="55" name="Text 53"/>
          <p:cNvSpPr/>
          <p:nvPr/>
        </p:nvSpPr>
        <p:spPr>
          <a:xfrm>
            <a:off x="850392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07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สำหรับองค์กร — มหาวิทยาลัยเกษตรศาสตร์</dc:title>
  <dc:subject>PptxGenJS Presentation</dc:subject>
  <dc:creator>สำนักบริการคอมพิวเตอร์ × ฝ่ายเทคโนโลยีดิจิทัลและปัญญาประดิษฐ์</dc:creator>
  <cp:lastModifiedBy>สำนักบริการคอมพิวเตอร์ × ฝ่ายเทคโนโลยีดิจิทัลและปัญญาประดิษฐ์</cp:lastModifiedBy>
  <cp:revision>1</cp:revision>
  <dcterms:created xsi:type="dcterms:W3CDTF">2026-05-25T15:21:07Z</dcterms:created>
  <dcterms:modified xsi:type="dcterms:W3CDTF">2026-05-25T15:21:07Z</dcterms:modified>
</cp:coreProperties>
</file>